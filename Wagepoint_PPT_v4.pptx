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83" r:id="rId1"/>
  </p:sldMasterIdLst>
  <p:notesMasterIdLst>
    <p:notesMasterId r:id="rId9"/>
  </p:notesMasterIdLst>
  <p:sldIdLst>
    <p:sldId id="256" r:id="rId2"/>
    <p:sldId id="257" r:id="rId3"/>
    <p:sldId id="262" r:id="rId4"/>
    <p:sldId id="258"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832256-E24C-546C-E89E-1AF9CC786B1A}" v="34" dt="2024-09-17T16:56:54.764"/>
    <p1510:client id="{98C94B83-BAC7-A72D-9B11-E62790B343A3}" v="124" dt="2024-09-16T00:05:58.523"/>
    <p1510:client id="{E3C05B25-B0E0-FE90-8E10-ADCAF6A5E5B6}" v="1710" dt="2024-09-15T23:48:59.1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diagrams/_rels/data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5.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7EF453-6755-4D28-9F67-F0245D88AA8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27BB293-EAE8-439A-A847-CD6723500F3B}">
      <dgm:prSet/>
      <dgm:spPr/>
      <dgm:t>
        <a:bodyPr/>
        <a:lstStyle/>
        <a:p>
          <a:r>
            <a:rPr lang="en-US" b="1" dirty="0">
              <a:latin typeface="Arial"/>
              <a:cs typeface="Arial"/>
            </a:rPr>
            <a:t>Current Retention Challenges</a:t>
          </a:r>
        </a:p>
      </dgm:t>
    </dgm:pt>
    <dgm:pt modelId="{E03DC997-9538-45F9-A9B6-4907EFD7E776}" type="parTrans" cxnId="{410CED3C-71DA-4819-86FA-05ABF038FE94}">
      <dgm:prSet/>
      <dgm:spPr/>
      <dgm:t>
        <a:bodyPr/>
        <a:lstStyle/>
        <a:p>
          <a:endParaRPr lang="en-US"/>
        </a:p>
      </dgm:t>
    </dgm:pt>
    <dgm:pt modelId="{818CD733-8A11-4595-B345-230CA31EFD5C}" type="sibTrans" cxnId="{410CED3C-71DA-4819-86FA-05ABF038FE94}">
      <dgm:prSet/>
      <dgm:spPr/>
      <dgm:t>
        <a:bodyPr/>
        <a:lstStyle/>
        <a:p>
          <a:endParaRPr lang="en-US"/>
        </a:p>
      </dgm:t>
    </dgm:pt>
    <dgm:pt modelId="{ACDAA519-5DF3-4362-96C7-4A092DEADF75}">
      <dgm:prSet/>
      <dgm:spPr/>
      <dgm:t>
        <a:bodyPr/>
        <a:lstStyle/>
        <a:p>
          <a:pPr>
            <a:lnSpc>
              <a:spcPct val="100000"/>
            </a:lnSpc>
          </a:pPr>
          <a:r>
            <a:rPr lang="en-US" b="1" dirty="0">
              <a:latin typeface="Arial"/>
              <a:cs typeface="Arial"/>
            </a:rPr>
            <a:t>Rising Subscription Cancellations</a:t>
          </a:r>
          <a:r>
            <a:rPr lang="en-US" dirty="0">
              <a:latin typeface="Arial"/>
              <a:cs typeface="Arial"/>
            </a:rPr>
            <a:t>: Churn rate has reached 20% over the past year.</a:t>
          </a:r>
        </a:p>
      </dgm:t>
    </dgm:pt>
    <dgm:pt modelId="{79C342A3-8F4B-47B2-8CC0-7AB1B663223E}" type="parTrans" cxnId="{2CC8272E-9CD9-44CE-B429-C901BAE62B20}">
      <dgm:prSet/>
      <dgm:spPr/>
      <dgm:t>
        <a:bodyPr/>
        <a:lstStyle/>
        <a:p>
          <a:endParaRPr lang="en-US"/>
        </a:p>
      </dgm:t>
    </dgm:pt>
    <dgm:pt modelId="{47A4A4C7-0CF9-4463-B733-5633173D38D0}" type="sibTrans" cxnId="{2CC8272E-9CD9-44CE-B429-C901BAE62B20}">
      <dgm:prSet/>
      <dgm:spPr/>
      <dgm:t>
        <a:bodyPr/>
        <a:lstStyle/>
        <a:p>
          <a:endParaRPr lang="en-US"/>
        </a:p>
      </dgm:t>
    </dgm:pt>
    <dgm:pt modelId="{9CD75BDF-D353-4AA0-9192-5869C40E24FA}">
      <dgm:prSet/>
      <dgm:spPr/>
      <dgm:t>
        <a:bodyPr/>
        <a:lstStyle/>
        <a:p>
          <a:pPr>
            <a:lnSpc>
              <a:spcPct val="100000"/>
            </a:lnSpc>
          </a:pPr>
          <a:r>
            <a:rPr lang="en-US" b="1" dirty="0">
              <a:latin typeface="Arial"/>
              <a:cs typeface="Arial"/>
            </a:rPr>
            <a:t>Customer Feedback</a:t>
          </a:r>
          <a:r>
            <a:rPr lang="en-US" dirty="0">
              <a:latin typeface="Arial"/>
              <a:cs typeface="Arial"/>
            </a:rPr>
            <a:t>: Customers report disengagement and a perceived lack of value in their subscription.</a:t>
          </a:r>
        </a:p>
      </dgm:t>
    </dgm:pt>
    <dgm:pt modelId="{AEA715BD-F42E-4C66-8CC8-93D0AE67E576}" type="parTrans" cxnId="{6B6F098E-C822-42F2-9BB6-FC900C179C6C}">
      <dgm:prSet/>
      <dgm:spPr/>
      <dgm:t>
        <a:bodyPr/>
        <a:lstStyle/>
        <a:p>
          <a:endParaRPr lang="en-US"/>
        </a:p>
      </dgm:t>
    </dgm:pt>
    <dgm:pt modelId="{7013AB9D-F1BC-4446-A2F6-39FB3F022494}" type="sibTrans" cxnId="{6B6F098E-C822-42F2-9BB6-FC900C179C6C}">
      <dgm:prSet/>
      <dgm:spPr/>
      <dgm:t>
        <a:bodyPr/>
        <a:lstStyle/>
        <a:p>
          <a:endParaRPr lang="en-US"/>
        </a:p>
      </dgm:t>
    </dgm:pt>
    <dgm:pt modelId="{ABE9A640-C7AA-4B9F-8CAC-FF850AEF01CD}">
      <dgm:prSet/>
      <dgm:spPr/>
      <dgm:t>
        <a:bodyPr/>
        <a:lstStyle/>
        <a:p>
          <a:r>
            <a:rPr lang="en-US" b="1" dirty="0">
              <a:latin typeface="Arial"/>
              <a:cs typeface="Arial"/>
            </a:rPr>
            <a:t>Business Impact</a:t>
          </a:r>
          <a:endParaRPr lang="en-US" dirty="0">
            <a:latin typeface="Arial"/>
            <a:cs typeface="Arial"/>
          </a:endParaRPr>
        </a:p>
      </dgm:t>
    </dgm:pt>
    <dgm:pt modelId="{4FA68387-2402-446F-9200-D4FCDE1729C4}" type="parTrans" cxnId="{417DB422-BBCF-48B0-B2F1-925A0D43E3B7}">
      <dgm:prSet/>
      <dgm:spPr/>
      <dgm:t>
        <a:bodyPr/>
        <a:lstStyle/>
        <a:p>
          <a:endParaRPr lang="en-US"/>
        </a:p>
      </dgm:t>
    </dgm:pt>
    <dgm:pt modelId="{BEE2AE68-77FE-44D9-A89C-379A3A87C2E1}" type="sibTrans" cxnId="{417DB422-BBCF-48B0-B2F1-925A0D43E3B7}">
      <dgm:prSet/>
      <dgm:spPr/>
      <dgm:t>
        <a:bodyPr/>
        <a:lstStyle/>
        <a:p>
          <a:endParaRPr lang="en-US"/>
        </a:p>
      </dgm:t>
    </dgm:pt>
    <dgm:pt modelId="{CCB63EAF-6B41-45E6-8EA6-272F3C3F382D}">
      <dgm:prSet/>
      <dgm:spPr/>
      <dgm:t>
        <a:bodyPr/>
        <a:lstStyle/>
        <a:p>
          <a:pPr>
            <a:lnSpc>
              <a:spcPct val="100000"/>
            </a:lnSpc>
          </a:pPr>
          <a:r>
            <a:rPr lang="en-US" b="1" dirty="0">
              <a:latin typeface="Arial"/>
              <a:cs typeface="Arial"/>
            </a:rPr>
            <a:t>Revenue and Growth</a:t>
          </a:r>
          <a:r>
            <a:rPr lang="en-US" dirty="0">
              <a:latin typeface="Arial"/>
              <a:cs typeface="Arial"/>
            </a:rPr>
            <a:t>: High churn affects revenue and growth, while disengaged customers lead to negative word-of-mouth and reduced acquisition efficiency.</a:t>
          </a:r>
        </a:p>
      </dgm:t>
    </dgm:pt>
    <dgm:pt modelId="{52C5CA8F-BF64-44E5-A116-FD599F4E13E4}" type="parTrans" cxnId="{C675F7CA-F467-4B5E-8317-C7B9DFF15B02}">
      <dgm:prSet/>
      <dgm:spPr/>
      <dgm:t>
        <a:bodyPr/>
        <a:lstStyle/>
        <a:p>
          <a:endParaRPr lang="en-US"/>
        </a:p>
      </dgm:t>
    </dgm:pt>
    <dgm:pt modelId="{36779D3A-C68B-4D59-9D40-DE1B5C048DCD}" type="sibTrans" cxnId="{C675F7CA-F467-4B5E-8317-C7B9DFF15B02}">
      <dgm:prSet/>
      <dgm:spPr/>
      <dgm:t>
        <a:bodyPr/>
        <a:lstStyle/>
        <a:p>
          <a:endParaRPr lang="en-US"/>
        </a:p>
      </dgm:t>
    </dgm:pt>
    <dgm:pt modelId="{1E61949B-0586-41EE-A32E-63D78D709A92}">
      <dgm:prSet phldr="0"/>
      <dgm:spPr/>
      <dgm:t>
        <a:bodyPr/>
        <a:lstStyle/>
        <a:p>
          <a:pPr>
            <a:lnSpc>
              <a:spcPct val="100000"/>
            </a:lnSpc>
          </a:pPr>
          <a:endParaRPr lang="en-US" b="0" dirty="0">
            <a:latin typeface="Calibri Light" panose="020F0302020204030204"/>
          </a:endParaRPr>
        </a:p>
      </dgm:t>
    </dgm:pt>
    <dgm:pt modelId="{4FAA6EBB-8CB6-4149-B62F-317F29F7498C}" type="parTrans" cxnId="{49342EF9-B5E8-4C7C-BD90-CE9074EA7FA8}">
      <dgm:prSet/>
      <dgm:spPr/>
    </dgm:pt>
    <dgm:pt modelId="{EC9655FF-AEFE-47CE-9DC7-577FB2243B37}" type="sibTrans" cxnId="{49342EF9-B5E8-4C7C-BD90-CE9074EA7FA8}">
      <dgm:prSet/>
      <dgm:spPr/>
      <dgm:t>
        <a:bodyPr/>
        <a:lstStyle/>
        <a:p>
          <a:endParaRPr lang="en-US"/>
        </a:p>
      </dgm:t>
    </dgm:pt>
    <dgm:pt modelId="{7B211E77-F032-4AD0-BD5E-A89DE452EECE}" type="pres">
      <dgm:prSet presAssocID="{357EF453-6755-4D28-9F67-F0245D88AA80}" presName="linear" presStyleCnt="0">
        <dgm:presLayoutVars>
          <dgm:dir/>
          <dgm:animLvl val="lvl"/>
          <dgm:resizeHandles val="exact"/>
        </dgm:presLayoutVars>
      </dgm:prSet>
      <dgm:spPr/>
    </dgm:pt>
    <dgm:pt modelId="{A21DFA25-FFD4-4F70-970D-4AA366B1A999}" type="pres">
      <dgm:prSet presAssocID="{227BB293-EAE8-439A-A847-CD6723500F3B}" presName="parentLin" presStyleCnt="0"/>
      <dgm:spPr/>
    </dgm:pt>
    <dgm:pt modelId="{8D83E67B-6858-4C88-986D-9346D18DD950}" type="pres">
      <dgm:prSet presAssocID="{227BB293-EAE8-439A-A847-CD6723500F3B}" presName="parentLeftMargin" presStyleLbl="node1" presStyleIdx="0" presStyleCnt="2"/>
      <dgm:spPr/>
    </dgm:pt>
    <dgm:pt modelId="{FBA2BBE6-54EE-4DF8-89A3-9643EF39F37F}" type="pres">
      <dgm:prSet presAssocID="{227BB293-EAE8-439A-A847-CD6723500F3B}" presName="parentText" presStyleLbl="node1" presStyleIdx="0" presStyleCnt="2">
        <dgm:presLayoutVars>
          <dgm:chMax val="0"/>
          <dgm:bulletEnabled val="1"/>
        </dgm:presLayoutVars>
      </dgm:prSet>
      <dgm:spPr/>
    </dgm:pt>
    <dgm:pt modelId="{27818EA3-8332-49D2-99D7-14DBE9F391FB}" type="pres">
      <dgm:prSet presAssocID="{227BB293-EAE8-439A-A847-CD6723500F3B}" presName="negativeSpace" presStyleCnt="0"/>
      <dgm:spPr/>
    </dgm:pt>
    <dgm:pt modelId="{9F2938B8-19C0-4C78-8E45-A722A943B2DB}" type="pres">
      <dgm:prSet presAssocID="{227BB293-EAE8-439A-A847-CD6723500F3B}" presName="childText" presStyleLbl="conFgAcc1" presStyleIdx="0" presStyleCnt="2">
        <dgm:presLayoutVars>
          <dgm:bulletEnabled val="1"/>
        </dgm:presLayoutVars>
      </dgm:prSet>
      <dgm:spPr/>
    </dgm:pt>
    <dgm:pt modelId="{F6E47DA1-1392-4999-9D3D-B8D08D6BE490}" type="pres">
      <dgm:prSet presAssocID="{818CD733-8A11-4595-B345-230CA31EFD5C}" presName="spaceBetweenRectangles" presStyleCnt="0"/>
      <dgm:spPr/>
    </dgm:pt>
    <dgm:pt modelId="{61E93AE2-3C1A-4B6D-8161-1471CEE39747}" type="pres">
      <dgm:prSet presAssocID="{ABE9A640-C7AA-4B9F-8CAC-FF850AEF01CD}" presName="parentLin" presStyleCnt="0"/>
      <dgm:spPr/>
    </dgm:pt>
    <dgm:pt modelId="{07EB619D-3AB1-4659-B78F-C45717AF4BF5}" type="pres">
      <dgm:prSet presAssocID="{ABE9A640-C7AA-4B9F-8CAC-FF850AEF01CD}" presName="parentLeftMargin" presStyleLbl="node1" presStyleIdx="0" presStyleCnt="2"/>
      <dgm:spPr/>
    </dgm:pt>
    <dgm:pt modelId="{1A29451C-1261-4000-BEC0-8C92D37E8CFE}" type="pres">
      <dgm:prSet presAssocID="{ABE9A640-C7AA-4B9F-8CAC-FF850AEF01CD}" presName="parentText" presStyleLbl="node1" presStyleIdx="1" presStyleCnt="2">
        <dgm:presLayoutVars>
          <dgm:chMax val="0"/>
          <dgm:bulletEnabled val="1"/>
        </dgm:presLayoutVars>
      </dgm:prSet>
      <dgm:spPr/>
    </dgm:pt>
    <dgm:pt modelId="{4FB7ACEF-0838-4737-9FF5-99B159026510}" type="pres">
      <dgm:prSet presAssocID="{ABE9A640-C7AA-4B9F-8CAC-FF850AEF01CD}" presName="negativeSpace" presStyleCnt="0"/>
      <dgm:spPr/>
    </dgm:pt>
    <dgm:pt modelId="{6ABAF597-08D0-4CFE-9B01-963422BF4104}" type="pres">
      <dgm:prSet presAssocID="{ABE9A640-C7AA-4B9F-8CAC-FF850AEF01CD}" presName="childText" presStyleLbl="conFgAcc1" presStyleIdx="1" presStyleCnt="2">
        <dgm:presLayoutVars>
          <dgm:bulletEnabled val="1"/>
        </dgm:presLayoutVars>
      </dgm:prSet>
      <dgm:spPr/>
    </dgm:pt>
  </dgm:ptLst>
  <dgm:cxnLst>
    <dgm:cxn modelId="{0F1D8B04-9C30-40A6-B0F6-2811E0A83699}" type="presOf" srcId="{ABE9A640-C7AA-4B9F-8CAC-FF850AEF01CD}" destId="{07EB619D-3AB1-4659-B78F-C45717AF4BF5}" srcOrd="0" destOrd="0" presId="urn:microsoft.com/office/officeart/2005/8/layout/list1"/>
    <dgm:cxn modelId="{5C790114-2556-4232-8E60-CBB030817DAE}" type="presOf" srcId="{227BB293-EAE8-439A-A847-CD6723500F3B}" destId="{FBA2BBE6-54EE-4DF8-89A3-9643EF39F37F}" srcOrd="1" destOrd="0" presId="urn:microsoft.com/office/officeart/2005/8/layout/list1"/>
    <dgm:cxn modelId="{A1F97115-1DEA-4043-8000-AA40F6A536D6}" type="presOf" srcId="{CCB63EAF-6B41-45E6-8EA6-272F3C3F382D}" destId="{6ABAF597-08D0-4CFE-9B01-963422BF4104}" srcOrd="0" destOrd="0" presId="urn:microsoft.com/office/officeart/2005/8/layout/list1"/>
    <dgm:cxn modelId="{417DB422-BBCF-48B0-B2F1-925A0D43E3B7}" srcId="{357EF453-6755-4D28-9F67-F0245D88AA80}" destId="{ABE9A640-C7AA-4B9F-8CAC-FF850AEF01CD}" srcOrd="1" destOrd="0" parTransId="{4FA68387-2402-446F-9200-D4FCDE1729C4}" sibTransId="{BEE2AE68-77FE-44D9-A89C-379A3A87C2E1}"/>
    <dgm:cxn modelId="{2CC8272E-9CD9-44CE-B429-C901BAE62B20}" srcId="{227BB293-EAE8-439A-A847-CD6723500F3B}" destId="{ACDAA519-5DF3-4362-96C7-4A092DEADF75}" srcOrd="0" destOrd="0" parTransId="{79C342A3-8F4B-47B2-8CC0-7AB1B663223E}" sibTransId="{47A4A4C7-0CF9-4463-B733-5633173D38D0}"/>
    <dgm:cxn modelId="{410CED3C-71DA-4819-86FA-05ABF038FE94}" srcId="{357EF453-6755-4D28-9F67-F0245D88AA80}" destId="{227BB293-EAE8-439A-A847-CD6723500F3B}" srcOrd="0" destOrd="0" parTransId="{E03DC997-9538-45F9-A9B6-4907EFD7E776}" sibTransId="{818CD733-8A11-4595-B345-230CA31EFD5C}"/>
    <dgm:cxn modelId="{973B5C41-3BB6-4D72-A0C2-A6757F8115E6}" type="presOf" srcId="{ACDAA519-5DF3-4362-96C7-4A092DEADF75}" destId="{9F2938B8-19C0-4C78-8E45-A722A943B2DB}" srcOrd="0" destOrd="0" presId="urn:microsoft.com/office/officeart/2005/8/layout/list1"/>
    <dgm:cxn modelId="{6AF1EB42-C7AE-49D2-98D4-7DBF6B936196}" type="presOf" srcId="{1E61949B-0586-41EE-A32E-63D78D709A92}" destId="{9F2938B8-19C0-4C78-8E45-A722A943B2DB}" srcOrd="0" destOrd="1" presId="urn:microsoft.com/office/officeart/2005/8/layout/list1"/>
    <dgm:cxn modelId="{2880CF53-2212-47FC-9B29-86D2DB89DB06}" type="presOf" srcId="{9CD75BDF-D353-4AA0-9192-5869C40E24FA}" destId="{9F2938B8-19C0-4C78-8E45-A722A943B2DB}" srcOrd="0" destOrd="2" presId="urn:microsoft.com/office/officeart/2005/8/layout/list1"/>
    <dgm:cxn modelId="{BB928C54-3CCA-44C7-A1F9-534684151729}" type="presOf" srcId="{357EF453-6755-4D28-9F67-F0245D88AA80}" destId="{7B211E77-F032-4AD0-BD5E-A89DE452EECE}" srcOrd="0" destOrd="0" presId="urn:microsoft.com/office/officeart/2005/8/layout/list1"/>
    <dgm:cxn modelId="{6B6F098E-C822-42F2-9BB6-FC900C179C6C}" srcId="{227BB293-EAE8-439A-A847-CD6723500F3B}" destId="{9CD75BDF-D353-4AA0-9192-5869C40E24FA}" srcOrd="2" destOrd="0" parTransId="{AEA715BD-F42E-4C66-8CC8-93D0AE67E576}" sibTransId="{7013AB9D-F1BC-4446-A2F6-39FB3F022494}"/>
    <dgm:cxn modelId="{C675F7CA-F467-4B5E-8317-C7B9DFF15B02}" srcId="{ABE9A640-C7AA-4B9F-8CAC-FF850AEF01CD}" destId="{CCB63EAF-6B41-45E6-8EA6-272F3C3F382D}" srcOrd="0" destOrd="0" parTransId="{52C5CA8F-BF64-44E5-A116-FD599F4E13E4}" sibTransId="{36779D3A-C68B-4D59-9D40-DE1B5C048DCD}"/>
    <dgm:cxn modelId="{0CA8B6CD-2796-4C76-A221-1A82BC7C1D41}" type="presOf" srcId="{ABE9A640-C7AA-4B9F-8CAC-FF850AEF01CD}" destId="{1A29451C-1261-4000-BEC0-8C92D37E8CFE}" srcOrd="1" destOrd="0" presId="urn:microsoft.com/office/officeart/2005/8/layout/list1"/>
    <dgm:cxn modelId="{497AACF3-BE98-4370-AA01-B5937CDF4CD6}" type="presOf" srcId="{227BB293-EAE8-439A-A847-CD6723500F3B}" destId="{8D83E67B-6858-4C88-986D-9346D18DD950}" srcOrd="0" destOrd="0" presId="urn:microsoft.com/office/officeart/2005/8/layout/list1"/>
    <dgm:cxn modelId="{49342EF9-B5E8-4C7C-BD90-CE9074EA7FA8}" srcId="{227BB293-EAE8-439A-A847-CD6723500F3B}" destId="{1E61949B-0586-41EE-A32E-63D78D709A92}" srcOrd="1" destOrd="0" parTransId="{4FAA6EBB-8CB6-4149-B62F-317F29F7498C}" sibTransId="{EC9655FF-AEFE-47CE-9DC7-577FB2243B37}"/>
    <dgm:cxn modelId="{C764D022-C9A7-4379-8748-D714F804582B}" type="presParOf" srcId="{7B211E77-F032-4AD0-BD5E-A89DE452EECE}" destId="{A21DFA25-FFD4-4F70-970D-4AA366B1A999}" srcOrd="0" destOrd="0" presId="urn:microsoft.com/office/officeart/2005/8/layout/list1"/>
    <dgm:cxn modelId="{F9A06819-3D3A-485D-85A3-8BD1537A2B9F}" type="presParOf" srcId="{A21DFA25-FFD4-4F70-970D-4AA366B1A999}" destId="{8D83E67B-6858-4C88-986D-9346D18DD950}" srcOrd="0" destOrd="0" presId="urn:microsoft.com/office/officeart/2005/8/layout/list1"/>
    <dgm:cxn modelId="{1C6321FD-7DAF-4800-977F-0FE19347B3B8}" type="presParOf" srcId="{A21DFA25-FFD4-4F70-970D-4AA366B1A999}" destId="{FBA2BBE6-54EE-4DF8-89A3-9643EF39F37F}" srcOrd="1" destOrd="0" presId="urn:microsoft.com/office/officeart/2005/8/layout/list1"/>
    <dgm:cxn modelId="{9F257269-C2A0-4219-B42A-C249867633FB}" type="presParOf" srcId="{7B211E77-F032-4AD0-BD5E-A89DE452EECE}" destId="{27818EA3-8332-49D2-99D7-14DBE9F391FB}" srcOrd="1" destOrd="0" presId="urn:microsoft.com/office/officeart/2005/8/layout/list1"/>
    <dgm:cxn modelId="{AEEA8728-4C36-44CF-B364-02159F60F190}" type="presParOf" srcId="{7B211E77-F032-4AD0-BD5E-A89DE452EECE}" destId="{9F2938B8-19C0-4C78-8E45-A722A943B2DB}" srcOrd="2" destOrd="0" presId="urn:microsoft.com/office/officeart/2005/8/layout/list1"/>
    <dgm:cxn modelId="{ED5777BC-BAAA-4202-AFD8-3DE62858E423}" type="presParOf" srcId="{7B211E77-F032-4AD0-BD5E-A89DE452EECE}" destId="{F6E47DA1-1392-4999-9D3D-B8D08D6BE490}" srcOrd="3" destOrd="0" presId="urn:microsoft.com/office/officeart/2005/8/layout/list1"/>
    <dgm:cxn modelId="{9F582548-B95A-47E0-B8C8-78AC24EBFFD0}" type="presParOf" srcId="{7B211E77-F032-4AD0-BD5E-A89DE452EECE}" destId="{61E93AE2-3C1A-4B6D-8161-1471CEE39747}" srcOrd="4" destOrd="0" presId="urn:microsoft.com/office/officeart/2005/8/layout/list1"/>
    <dgm:cxn modelId="{69E53776-98A3-4755-8D41-706BC3850E30}" type="presParOf" srcId="{61E93AE2-3C1A-4B6D-8161-1471CEE39747}" destId="{07EB619D-3AB1-4659-B78F-C45717AF4BF5}" srcOrd="0" destOrd="0" presId="urn:microsoft.com/office/officeart/2005/8/layout/list1"/>
    <dgm:cxn modelId="{157B5622-2D17-44DE-B398-6DB58F4E1586}" type="presParOf" srcId="{61E93AE2-3C1A-4B6D-8161-1471CEE39747}" destId="{1A29451C-1261-4000-BEC0-8C92D37E8CFE}" srcOrd="1" destOrd="0" presId="urn:microsoft.com/office/officeart/2005/8/layout/list1"/>
    <dgm:cxn modelId="{7DA9A7C4-046A-463D-A78A-9644973970E9}" type="presParOf" srcId="{7B211E77-F032-4AD0-BD5E-A89DE452EECE}" destId="{4FB7ACEF-0838-4737-9FF5-99B159026510}" srcOrd="5" destOrd="0" presId="urn:microsoft.com/office/officeart/2005/8/layout/list1"/>
    <dgm:cxn modelId="{DA59EAA7-DAA8-4689-ABE7-D1F63B84988C}" type="presParOf" srcId="{7B211E77-F032-4AD0-BD5E-A89DE452EECE}" destId="{6ABAF597-08D0-4CFE-9B01-963422BF410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3206D7-1534-457B-B5B9-9AC180D30731}"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C7536EB4-8149-4F42-8C0E-8674134C73F1}">
      <dgm:prSet/>
      <dgm:spPr/>
      <dgm:t>
        <a:bodyPr/>
        <a:lstStyle/>
        <a:p>
          <a:pPr>
            <a:lnSpc>
              <a:spcPct val="100000"/>
            </a:lnSpc>
          </a:pPr>
          <a:r>
            <a:rPr lang="en-US" b="1" dirty="0">
              <a:latin typeface="Arial"/>
              <a:cs typeface="Arial"/>
            </a:rPr>
            <a:t>Sample Size Detail</a:t>
          </a:r>
          <a:r>
            <a:rPr lang="en-US" dirty="0">
              <a:latin typeface="Arial"/>
              <a:cs typeface="Arial"/>
            </a:rPr>
            <a:t>: 76 reviews, representing over 30% of the total 242 reviews.</a:t>
          </a:r>
        </a:p>
      </dgm:t>
    </dgm:pt>
    <dgm:pt modelId="{08A95B22-A080-4AC8-9078-0AC8A9E72AFF}" type="parTrans" cxnId="{DCEC0EFA-2D25-4268-AA94-D1496CA44A8A}">
      <dgm:prSet/>
      <dgm:spPr/>
      <dgm:t>
        <a:bodyPr/>
        <a:lstStyle/>
        <a:p>
          <a:endParaRPr lang="en-US"/>
        </a:p>
      </dgm:t>
    </dgm:pt>
    <dgm:pt modelId="{5DFAC7B7-A128-42F2-89F2-0FF39BC1133F}" type="sibTrans" cxnId="{DCEC0EFA-2D25-4268-AA94-D1496CA44A8A}">
      <dgm:prSet/>
      <dgm:spPr/>
      <dgm:t>
        <a:bodyPr/>
        <a:lstStyle/>
        <a:p>
          <a:endParaRPr lang="en-US"/>
        </a:p>
      </dgm:t>
    </dgm:pt>
    <dgm:pt modelId="{6253DC6A-879E-40EF-BE99-24598BF3A79B}">
      <dgm:prSet/>
      <dgm:spPr/>
      <dgm:t>
        <a:bodyPr/>
        <a:lstStyle/>
        <a:p>
          <a:pPr>
            <a:lnSpc>
              <a:spcPct val="100000"/>
            </a:lnSpc>
          </a:pPr>
          <a:r>
            <a:rPr lang="en-US" b="1" dirty="0">
              <a:latin typeface="Arial"/>
              <a:cs typeface="Arial"/>
            </a:rPr>
            <a:t>Parameters analyzed - </a:t>
          </a:r>
          <a:r>
            <a:rPr lang="en-US" dirty="0">
              <a:latin typeface="Arial"/>
              <a:cs typeface="Arial"/>
            </a:rPr>
            <a:t>Client Industry, Employee Numbers, Duration with </a:t>
          </a:r>
          <a:r>
            <a:rPr lang="en-US" dirty="0" err="1">
              <a:latin typeface="Arial"/>
              <a:cs typeface="Arial"/>
            </a:rPr>
            <a:t>Wagepoint</a:t>
          </a:r>
          <a:r>
            <a:rPr lang="en-US" dirty="0">
              <a:latin typeface="Arial"/>
              <a:cs typeface="Arial"/>
            </a:rPr>
            <a:t>, Payment Frequency, Ease of Use, Customer Satisfaction, Value for Money, Overall Rating, Likely to Recommend (NPS).</a:t>
          </a:r>
        </a:p>
      </dgm:t>
    </dgm:pt>
    <dgm:pt modelId="{B0F031D6-DDCA-43DD-9AA9-61C3A4B9053E}" type="parTrans" cxnId="{84F17041-D8F0-49AF-90B4-2942C9071E49}">
      <dgm:prSet/>
      <dgm:spPr/>
      <dgm:t>
        <a:bodyPr/>
        <a:lstStyle/>
        <a:p>
          <a:endParaRPr lang="en-US"/>
        </a:p>
      </dgm:t>
    </dgm:pt>
    <dgm:pt modelId="{7401A54D-1268-4E13-88B2-15A68EB522DB}" type="sibTrans" cxnId="{84F17041-D8F0-49AF-90B4-2942C9071E49}">
      <dgm:prSet/>
      <dgm:spPr/>
      <dgm:t>
        <a:bodyPr/>
        <a:lstStyle/>
        <a:p>
          <a:endParaRPr lang="en-US"/>
        </a:p>
      </dgm:t>
    </dgm:pt>
    <dgm:pt modelId="{4728AD16-D015-4D0F-A31F-F60BEC968B15}">
      <dgm:prSet/>
      <dgm:spPr/>
      <dgm:t>
        <a:bodyPr/>
        <a:lstStyle/>
        <a:p>
          <a:pPr>
            <a:lnSpc>
              <a:spcPct val="100000"/>
            </a:lnSpc>
          </a:pPr>
          <a:r>
            <a:rPr lang="en-US" b="1" dirty="0">
              <a:latin typeface="Arial"/>
              <a:cs typeface="Arial"/>
            </a:rPr>
            <a:t>Analysis Methodology: </a:t>
          </a:r>
          <a:r>
            <a:rPr lang="en-US" dirty="0">
              <a:latin typeface="Arial"/>
              <a:cs typeface="Arial"/>
            </a:rPr>
            <a:t>Performed customer segmentation to analyze correlations between multiple parameters.</a:t>
          </a:r>
        </a:p>
      </dgm:t>
    </dgm:pt>
    <dgm:pt modelId="{EFEA5D62-0F71-472B-B222-2011C712FE0F}" type="parTrans" cxnId="{8F1AEF48-B9CE-442C-9A5F-67566240F733}">
      <dgm:prSet/>
      <dgm:spPr/>
      <dgm:t>
        <a:bodyPr/>
        <a:lstStyle/>
        <a:p>
          <a:endParaRPr lang="en-US"/>
        </a:p>
      </dgm:t>
    </dgm:pt>
    <dgm:pt modelId="{9C62C24C-A851-4593-AD1B-6DAB865DC4FD}" type="sibTrans" cxnId="{8F1AEF48-B9CE-442C-9A5F-67566240F733}">
      <dgm:prSet/>
      <dgm:spPr/>
      <dgm:t>
        <a:bodyPr/>
        <a:lstStyle/>
        <a:p>
          <a:endParaRPr lang="en-US"/>
        </a:p>
      </dgm:t>
    </dgm:pt>
    <dgm:pt modelId="{84C337F1-C552-4495-BDC5-E7FB9FED29B3}">
      <dgm:prSet/>
      <dgm:spPr/>
      <dgm:t>
        <a:bodyPr/>
        <a:lstStyle/>
        <a:p>
          <a:pPr>
            <a:lnSpc>
              <a:spcPct val="100000"/>
            </a:lnSpc>
          </a:pPr>
          <a:r>
            <a:rPr lang="en-US" b="1" dirty="0">
              <a:latin typeface="Arial"/>
              <a:cs typeface="Arial"/>
            </a:rPr>
            <a:t>Additional Data Sources: </a:t>
          </a:r>
          <a:r>
            <a:rPr lang="en-US" dirty="0">
              <a:latin typeface="Arial"/>
              <a:cs typeface="Arial"/>
            </a:rPr>
            <a:t>Potentially enrich analysis with data from CRM tools, customer feedback systems, and usage analytics.</a:t>
          </a:r>
        </a:p>
      </dgm:t>
    </dgm:pt>
    <dgm:pt modelId="{5EA6EF13-BBB0-4ED5-ABB5-EEB3898E1053}" type="parTrans" cxnId="{D371F2CC-E374-4180-B0A1-44B18D5EE641}">
      <dgm:prSet/>
      <dgm:spPr/>
      <dgm:t>
        <a:bodyPr/>
        <a:lstStyle/>
        <a:p>
          <a:endParaRPr lang="en-US"/>
        </a:p>
      </dgm:t>
    </dgm:pt>
    <dgm:pt modelId="{7AA3F27B-0940-4B89-BC8A-9D269E0A498F}" type="sibTrans" cxnId="{D371F2CC-E374-4180-B0A1-44B18D5EE641}">
      <dgm:prSet/>
      <dgm:spPr/>
      <dgm:t>
        <a:bodyPr/>
        <a:lstStyle/>
        <a:p>
          <a:endParaRPr lang="en-US"/>
        </a:p>
      </dgm:t>
    </dgm:pt>
    <dgm:pt modelId="{F2EAE0C9-A045-4928-98DD-50F018E9B8BF}" type="pres">
      <dgm:prSet presAssocID="{FA3206D7-1534-457B-B5B9-9AC180D30731}" presName="root" presStyleCnt="0">
        <dgm:presLayoutVars>
          <dgm:dir/>
          <dgm:resizeHandles val="exact"/>
        </dgm:presLayoutVars>
      </dgm:prSet>
      <dgm:spPr/>
    </dgm:pt>
    <dgm:pt modelId="{19F556E8-F74E-4642-A44C-4EF227E7BC5B}" type="pres">
      <dgm:prSet presAssocID="{C7536EB4-8149-4F42-8C0E-8674134C73F1}" presName="compNode" presStyleCnt="0"/>
      <dgm:spPr/>
    </dgm:pt>
    <dgm:pt modelId="{EF6A6FCB-FBDF-45B8-89A6-7363A0826AF0}" type="pres">
      <dgm:prSet presAssocID="{C7536EB4-8149-4F42-8C0E-8674134C73F1}" presName="bgRect" presStyleLbl="bgShp" presStyleIdx="0" presStyleCnt="4"/>
      <dgm:spPr/>
    </dgm:pt>
    <dgm:pt modelId="{C3D83123-0393-4F73-BA2F-E3FD406F8E55}" type="pres">
      <dgm:prSet presAssocID="{C7536EB4-8149-4F42-8C0E-8674134C73F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nabata Tree"/>
        </a:ext>
      </dgm:extLst>
    </dgm:pt>
    <dgm:pt modelId="{101781C8-A12D-4BB4-B3C5-8624B10F9871}" type="pres">
      <dgm:prSet presAssocID="{C7536EB4-8149-4F42-8C0E-8674134C73F1}" presName="spaceRect" presStyleCnt="0"/>
      <dgm:spPr/>
    </dgm:pt>
    <dgm:pt modelId="{9331586A-C7EB-4F19-ADF1-E5607416A77A}" type="pres">
      <dgm:prSet presAssocID="{C7536EB4-8149-4F42-8C0E-8674134C73F1}" presName="parTx" presStyleLbl="revTx" presStyleIdx="0" presStyleCnt="4">
        <dgm:presLayoutVars>
          <dgm:chMax val="0"/>
          <dgm:chPref val="0"/>
        </dgm:presLayoutVars>
      </dgm:prSet>
      <dgm:spPr/>
    </dgm:pt>
    <dgm:pt modelId="{0E4B0B48-CB7F-475C-AB77-B86CC6898FFD}" type="pres">
      <dgm:prSet presAssocID="{5DFAC7B7-A128-42F2-89F2-0FF39BC1133F}" presName="sibTrans" presStyleCnt="0"/>
      <dgm:spPr/>
    </dgm:pt>
    <dgm:pt modelId="{59A278A2-96C0-41BD-BB0D-1CB9FE907A94}" type="pres">
      <dgm:prSet presAssocID="{6253DC6A-879E-40EF-BE99-24598BF3A79B}" presName="compNode" presStyleCnt="0"/>
      <dgm:spPr/>
    </dgm:pt>
    <dgm:pt modelId="{5A28BADE-EE3A-4108-83E8-6F4BBA3906F8}" type="pres">
      <dgm:prSet presAssocID="{6253DC6A-879E-40EF-BE99-24598BF3A79B}" presName="bgRect" presStyleLbl="bgShp" presStyleIdx="1" presStyleCnt="4"/>
      <dgm:spPr/>
    </dgm:pt>
    <dgm:pt modelId="{5D13EAA8-74DA-49A9-A744-056442D3E138}" type="pres">
      <dgm:prSet presAssocID="{6253DC6A-879E-40EF-BE99-24598BF3A79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5575D98D-7542-44AB-A78B-4F3021568B9E}" type="pres">
      <dgm:prSet presAssocID="{6253DC6A-879E-40EF-BE99-24598BF3A79B}" presName="spaceRect" presStyleCnt="0"/>
      <dgm:spPr/>
    </dgm:pt>
    <dgm:pt modelId="{B67E5F9D-7A46-4BF6-8044-8E9DFA07FC71}" type="pres">
      <dgm:prSet presAssocID="{6253DC6A-879E-40EF-BE99-24598BF3A79B}" presName="parTx" presStyleLbl="revTx" presStyleIdx="1" presStyleCnt="4">
        <dgm:presLayoutVars>
          <dgm:chMax val="0"/>
          <dgm:chPref val="0"/>
        </dgm:presLayoutVars>
      </dgm:prSet>
      <dgm:spPr/>
    </dgm:pt>
    <dgm:pt modelId="{32433831-3223-48ED-B42C-FCB573711911}" type="pres">
      <dgm:prSet presAssocID="{7401A54D-1268-4E13-88B2-15A68EB522DB}" presName="sibTrans" presStyleCnt="0"/>
      <dgm:spPr/>
    </dgm:pt>
    <dgm:pt modelId="{CF044264-C5A4-4D2C-A574-6A81E26A442F}" type="pres">
      <dgm:prSet presAssocID="{4728AD16-D015-4D0F-A31F-F60BEC968B15}" presName="compNode" presStyleCnt="0"/>
      <dgm:spPr/>
    </dgm:pt>
    <dgm:pt modelId="{E0937CDA-B69E-469A-9D6B-72C7F2CB4E4A}" type="pres">
      <dgm:prSet presAssocID="{4728AD16-D015-4D0F-A31F-F60BEC968B15}" presName="bgRect" presStyleLbl="bgShp" presStyleIdx="2" presStyleCnt="4"/>
      <dgm:spPr/>
    </dgm:pt>
    <dgm:pt modelId="{D4BB5756-B105-4FEA-A4BC-4D01E067AF39}" type="pres">
      <dgm:prSet presAssocID="{4728AD16-D015-4D0F-A31F-F60BEC968B1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9AD9F7A1-C3A8-4E9F-B6DD-BFBEFFAAF62C}" type="pres">
      <dgm:prSet presAssocID="{4728AD16-D015-4D0F-A31F-F60BEC968B15}" presName="spaceRect" presStyleCnt="0"/>
      <dgm:spPr/>
    </dgm:pt>
    <dgm:pt modelId="{EB52F550-380D-4F98-A102-F4508185730C}" type="pres">
      <dgm:prSet presAssocID="{4728AD16-D015-4D0F-A31F-F60BEC968B15}" presName="parTx" presStyleLbl="revTx" presStyleIdx="2" presStyleCnt="4">
        <dgm:presLayoutVars>
          <dgm:chMax val="0"/>
          <dgm:chPref val="0"/>
        </dgm:presLayoutVars>
      </dgm:prSet>
      <dgm:spPr/>
    </dgm:pt>
    <dgm:pt modelId="{910EA4AB-CC21-4451-8F9B-10DB6FF7C2A1}" type="pres">
      <dgm:prSet presAssocID="{9C62C24C-A851-4593-AD1B-6DAB865DC4FD}" presName="sibTrans" presStyleCnt="0"/>
      <dgm:spPr/>
    </dgm:pt>
    <dgm:pt modelId="{F6481B74-5D01-4701-80DC-1994C22C90D8}" type="pres">
      <dgm:prSet presAssocID="{84C337F1-C552-4495-BDC5-E7FB9FED29B3}" presName="compNode" presStyleCnt="0"/>
      <dgm:spPr/>
    </dgm:pt>
    <dgm:pt modelId="{54D35319-2B4D-4907-8C2B-CC6B26B8730A}" type="pres">
      <dgm:prSet presAssocID="{84C337F1-C552-4495-BDC5-E7FB9FED29B3}" presName="bgRect" presStyleLbl="bgShp" presStyleIdx="3" presStyleCnt="4"/>
      <dgm:spPr/>
    </dgm:pt>
    <dgm:pt modelId="{112C8B29-B53C-4E02-8F64-E71ED200578A}" type="pres">
      <dgm:prSet presAssocID="{84C337F1-C552-4495-BDC5-E7FB9FED29B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lter"/>
        </a:ext>
      </dgm:extLst>
    </dgm:pt>
    <dgm:pt modelId="{2656C3EB-CC7C-4E0B-992E-6DC80BA5C2B5}" type="pres">
      <dgm:prSet presAssocID="{84C337F1-C552-4495-BDC5-E7FB9FED29B3}" presName="spaceRect" presStyleCnt="0"/>
      <dgm:spPr/>
    </dgm:pt>
    <dgm:pt modelId="{3C0EF8EA-B146-45F8-AC60-A0AE93992F4E}" type="pres">
      <dgm:prSet presAssocID="{84C337F1-C552-4495-BDC5-E7FB9FED29B3}" presName="parTx" presStyleLbl="revTx" presStyleIdx="3" presStyleCnt="4">
        <dgm:presLayoutVars>
          <dgm:chMax val="0"/>
          <dgm:chPref val="0"/>
        </dgm:presLayoutVars>
      </dgm:prSet>
      <dgm:spPr/>
    </dgm:pt>
  </dgm:ptLst>
  <dgm:cxnLst>
    <dgm:cxn modelId="{B559FA23-9DD1-46B6-A650-DE01FDC6AE33}" type="presOf" srcId="{4728AD16-D015-4D0F-A31F-F60BEC968B15}" destId="{EB52F550-380D-4F98-A102-F4508185730C}" srcOrd="0" destOrd="0" presId="urn:microsoft.com/office/officeart/2018/2/layout/IconVerticalSolidList"/>
    <dgm:cxn modelId="{84F17041-D8F0-49AF-90B4-2942C9071E49}" srcId="{FA3206D7-1534-457B-B5B9-9AC180D30731}" destId="{6253DC6A-879E-40EF-BE99-24598BF3A79B}" srcOrd="1" destOrd="0" parTransId="{B0F031D6-DDCA-43DD-9AA9-61C3A4B9053E}" sibTransId="{7401A54D-1268-4E13-88B2-15A68EB522DB}"/>
    <dgm:cxn modelId="{5B4C5943-8613-4A0F-91B4-C444A8E3FC81}" type="presOf" srcId="{C7536EB4-8149-4F42-8C0E-8674134C73F1}" destId="{9331586A-C7EB-4F19-ADF1-E5607416A77A}" srcOrd="0" destOrd="0" presId="urn:microsoft.com/office/officeart/2018/2/layout/IconVerticalSolidList"/>
    <dgm:cxn modelId="{8F1AEF48-B9CE-442C-9A5F-67566240F733}" srcId="{FA3206D7-1534-457B-B5B9-9AC180D30731}" destId="{4728AD16-D015-4D0F-A31F-F60BEC968B15}" srcOrd="2" destOrd="0" parTransId="{EFEA5D62-0F71-472B-B222-2011C712FE0F}" sibTransId="{9C62C24C-A851-4593-AD1B-6DAB865DC4FD}"/>
    <dgm:cxn modelId="{E5D13D57-E6B3-447A-B0BC-CA81516AC429}" type="presOf" srcId="{6253DC6A-879E-40EF-BE99-24598BF3A79B}" destId="{B67E5F9D-7A46-4BF6-8044-8E9DFA07FC71}" srcOrd="0" destOrd="0" presId="urn:microsoft.com/office/officeart/2018/2/layout/IconVerticalSolidList"/>
    <dgm:cxn modelId="{FA82407D-7DB6-4A9C-AFDC-1E58C2DC3FDD}" type="presOf" srcId="{84C337F1-C552-4495-BDC5-E7FB9FED29B3}" destId="{3C0EF8EA-B146-45F8-AC60-A0AE93992F4E}" srcOrd="0" destOrd="0" presId="urn:microsoft.com/office/officeart/2018/2/layout/IconVerticalSolidList"/>
    <dgm:cxn modelId="{D371F2CC-E374-4180-B0A1-44B18D5EE641}" srcId="{FA3206D7-1534-457B-B5B9-9AC180D30731}" destId="{84C337F1-C552-4495-BDC5-E7FB9FED29B3}" srcOrd="3" destOrd="0" parTransId="{5EA6EF13-BBB0-4ED5-ABB5-EEB3898E1053}" sibTransId="{7AA3F27B-0940-4B89-BC8A-9D269E0A498F}"/>
    <dgm:cxn modelId="{DCEC0EFA-2D25-4268-AA94-D1496CA44A8A}" srcId="{FA3206D7-1534-457B-B5B9-9AC180D30731}" destId="{C7536EB4-8149-4F42-8C0E-8674134C73F1}" srcOrd="0" destOrd="0" parTransId="{08A95B22-A080-4AC8-9078-0AC8A9E72AFF}" sibTransId="{5DFAC7B7-A128-42F2-89F2-0FF39BC1133F}"/>
    <dgm:cxn modelId="{BF7E74FF-5B2A-488F-90F5-2681B42076D2}" type="presOf" srcId="{FA3206D7-1534-457B-B5B9-9AC180D30731}" destId="{F2EAE0C9-A045-4928-98DD-50F018E9B8BF}" srcOrd="0" destOrd="0" presId="urn:microsoft.com/office/officeart/2018/2/layout/IconVerticalSolidList"/>
    <dgm:cxn modelId="{2BC02927-FBAA-406B-911C-BA5D21ABB270}" type="presParOf" srcId="{F2EAE0C9-A045-4928-98DD-50F018E9B8BF}" destId="{19F556E8-F74E-4642-A44C-4EF227E7BC5B}" srcOrd="0" destOrd="0" presId="urn:microsoft.com/office/officeart/2018/2/layout/IconVerticalSolidList"/>
    <dgm:cxn modelId="{749DBE39-A721-40B3-9BF0-276120DA78EE}" type="presParOf" srcId="{19F556E8-F74E-4642-A44C-4EF227E7BC5B}" destId="{EF6A6FCB-FBDF-45B8-89A6-7363A0826AF0}" srcOrd="0" destOrd="0" presId="urn:microsoft.com/office/officeart/2018/2/layout/IconVerticalSolidList"/>
    <dgm:cxn modelId="{078E7FC7-6B3F-4273-AB14-7EC19674C27B}" type="presParOf" srcId="{19F556E8-F74E-4642-A44C-4EF227E7BC5B}" destId="{C3D83123-0393-4F73-BA2F-E3FD406F8E55}" srcOrd="1" destOrd="0" presId="urn:microsoft.com/office/officeart/2018/2/layout/IconVerticalSolidList"/>
    <dgm:cxn modelId="{ADC33009-263B-4343-803A-2D7EEE7EA2A6}" type="presParOf" srcId="{19F556E8-F74E-4642-A44C-4EF227E7BC5B}" destId="{101781C8-A12D-4BB4-B3C5-8624B10F9871}" srcOrd="2" destOrd="0" presId="urn:microsoft.com/office/officeart/2018/2/layout/IconVerticalSolidList"/>
    <dgm:cxn modelId="{063F85AC-6457-4AC7-B10B-F76EA6B342F7}" type="presParOf" srcId="{19F556E8-F74E-4642-A44C-4EF227E7BC5B}" destId="{9331586A-C7EB-4F19-ADF1-E5607416A77A}" srcOrd="3" destOrd="0" presId="urn:microsoft.com/office/officeart/2018/2/layout/IconVerticalSolidList"/>
    <dgm:cxn modelId="{24F6E354-2EAE-4687-A243-410C0D8DD749}" type="presParOf" srcId="{F2EAE0C9-A045-4928-98DD-50F018E9B8BF}" destId="{0E4B0B48-CB7F-475C-AB77-B86CC6898FFD}" srcOrd="1" destOrd="0" presId="urn:microsoft.com/office/officeart/2018/2/layout/IconVerticalSolidList"/>
    <dgm:cxn modelId="{6473D832-981C-4F4B-B923-CEB5A9D2C49B}" type="presParOf" srcId="{F2EAE0C9-A045-4928-98DD-50F018E9B8BF}" destId="{59A278A2-96C0-41BD-BB0D-1CB9FE907A94}" srcOrd="2" destOrd="0" presId="urn:microsoft.com/office/officeart/2018/2/layout/IconVerticalSolidList"/>
    <dgm:cxn modelId="{19F13542-84AE-4D34-86A3-A6F18F97C9CE}" type="presParOf" srcId="{59A278A2-96C0-41BD-BB0D-1CB9FE907A94}" destId="{5A28BADE-EE3A-4108-83E8-6F4BBA3906F8}" srcOrd="0" destOrd="0" presId="urn:microsoft.com/office/officeart/2018/2/layout/IconVerticalSolidList"/>
    <dgm:cxn modelId="{724E3E24-E65E-4C3F-AB8B-42072D08CA11}" type="presParOf" srcId="{59A278A2-96C0-41BD-BB0D-1CB9FE907A94}" destId="{5D13EAA8-74DA-49A9-A744-056442D3E138}" srcOrd="1" destOrd="0" presId="urn:microsoft.com/office/officeart/2018/2/layout/IconVerticalSolidList"/>
    <dgm:cxn modelId="{5D043921-B09F-4335-BCF2-8F964A0534FA}" type="presParOf" srcId="{59A278A2-96C0-41BD-BB0D-1CB9FE907A94}" destId="{5575D98D-7542-44AB-A78B-4F3021568B9E}" srcOrd="2" destOrd="0" presId="urn:microsoft.com/office/officeart/2018/2/layout/IconVerticalSolidList"/>
    <dgm:cxn modelId="{C3E628E2-9716-4DC9-BC63-26CFA2FB795F}" type="presParOf" srcId="{59A278A2-96C0-41BD-BB0D-1CB9FE907A94}" destId="{B67E5F9D-7A46-4BF6-8044-8E9DFA07FC71}" srcOrd="3" destOrd="0" presId="urn:microsoft.com/office/officeart/2018/2/layout/IconVerticalSolidList"/>
    <dgm:cxn modelId="{6F8B4C42-B537-4CB5-9130-D33C66347E50}" type="presParOf" srcId="{F2EAE0C9-A045-4928-98DD-50F018E9B8BF}" destId="{32433831-3223-48ED-B42C-FCB573711911}" srcOrd="3" destOrd="0" presId="urn:microsoft.com/office/officeart/2018/2/layout/IconVerticalSolidList"/>
    <dgm:cxn modelId="{BC35AFC3-C3D6-48C5-B260-310956D9C6CC}" type="presParOf" srcId="{F2EAE0C9-A045-4928-98DD-50F018E9B8BF}" destId="{CF044264-C5A4-4D2C-A574-6A81E26A442F}" srcOrd="4" destOrd="0" presId="urn:microsoft.com/office/officeart/2018/2/layout/IconVerticalSolidList"/>
    <dgm:cxn modelId="{C599158C-0470-4EE7-AC0D-858EE2E34AC9}" type="presParOf" srcId="{CF044264-C5A4-4D2C-A574-6A81E26A442F}" destId="{E0937CDA-B69E-469A-9D6B-72C7F2CB4E4A}" srcOrd="0" destOrd="0" presId="urn:microsoft.com/office/officeart/2018/2/layout/IconVerticalSolidList"/>
    <dgm:cxn modelId="{8052049F-9C57-47D7-ACFD-FBEFBB896EFC}" type="presParOf" srcId="{CF044264-C5A4-4D2C-A574-6A81E26A442F}" destId="{D4BB5756-B105-4FEA-A4BC-4D01E067AF39}" srcOrd="1" destOrd="0" presId="urn:microsoft.com/office/officeart/2018/2/layout/IconVerticalSolidList"/>
    <dgm:cxn modelId="{9D381365-088E-4F8E-B6A5-D2D8BECD2114}" type="presParOf" srcId="{CF044264-C5A4-4D2C-A574-6A81E26A442F}" destId="{9AD9F7A1-C3A8-4E9F-B6DD-BFBEFFAAF62C}" srcOrd="2" destOrd="0" presId="urn:microsoft.com/office/officeart/2018/2/layout/IconVerticalSolidList"/>
    <dgm:cxn modelId="{4D7C9116-3C7E-470A-996F-BDC942DAC20F}" type="presParOf" srcId="{CF044264-C5A4-4D2C-A574-6A81E26A442F}" destId="{EB52F550-380D-4F98-A102-F4508185730C}" srcOrd="3" destOrd="0" presId="urn:microsoft.com/office/officeart/2018/2/layout/IconVerticalSolidList"/>
    <dgm:cxn modelId="{EDA48869-F096-4479-86E1-8E54C553A3EF}" type="presParOf" srcId="{F2EAE0C9-A045-4928-98DD-50F018E9B8BF}" destId="{910EA4AB-CC21-4451-8F9B-10DB6FF7C2A1}" srcOrd="5" destOrd="0" presId="urn:microsoft.com/office/officeart/2018/2/layout/IconVerticalSolidList"/>
    <dgm:cxn modelId="{1B447132-CB0C-41C5-8505-320C2DEC1AB3}" type="presParOf" srcId="{F2EAE0C9-A045-4928-98DD-50F018E9B8BF}" destId="{F6481B74-5D01-4701-80DC-1994C22C90D8}" srcOrd="6" destOrd="0" presId="urn:microsoft.com/office/officeart/2018/2/layout/IconVerticalSolidList"/>
    <dgm:cxn modelId="{A507A48E-373D-4DD1-8320-2DDAD0F7A4A8}" type="presParOf" srcId="{F6481B74-5D01-4701-80DC-1994C22C90D8}" destId="{54D35319-2B4D-4907-8C2B-CC6B26B8730A}" srcOrd="0" destOrd="0" presId="urn:microsoft.com/office/officeart/2018/2/layout/IconVerticalSolidList"/>
    <dgm:cxn modelId="{1C966495-8893-4E34-A1E3-22A88AF6CC3F}" type="presParOf" srcId="{F6481B74-5D01-4701-80DC-1994C22C90D8}" destId="{112C8B29-B53C-4E02-8F64-E71ED200578A}" srcOrd="1" destOrd="0" presId="urn:microsoft.com/office/officeart/2018/2/layout/IconVerticalSolidList"/>
    <dgm:cxn modelId="{582FB321-B369-420A-B22C-4F5AE33C175F}" type="presParOf" srcId="{F6481B74-5D01-4701-80DC-1994C22C90D8}" destId="{2656C3EB-CC7C-4E0B-992E-6DC80BA5C2B5}" srcOrd="2" destOrd="0" presId="urn:microsoft.com/office/officeart/2018/2/layout/IconVerticalSolidList"/>
    <dgm:cxn modelId="{12391908-9394-4233-BA53-6F740570118B}" type="presParOf" srcId="{F6481B74-5D01-4701-80DC-1994C22C90D8}" destId="{3C0EF8EA-B146-45F8-AC60-A0AE93992F4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C87D1E-7379-46A1-8F0E-E89811F2BD00}" type="doc">
      <dgm:prSet loTypeId="urn:microsoft.com/office/officeart/2018/2/layout/IconCircleList" loCatId="icon" qsTypeId="urn:microsoft.com/office/officeart/2005/8/quickstyle/simple1" qsCatId="simple" csTypeId="urn:microsoft.com/office/officeart/2018/5/colors/Iconchunking_neutralbg_accent2_2" csCatId="accent2" phldr="1"/>
      <dgm:spPr/>
      <dgm:t>
        <a:bodyPr/>
        <a:lstStyle/>
        <a:p>
          <a:endParaRPr lang="en-US"/>
        </a:p>
      </dgm:t>
    </dgm:pt>
    <dgm:pt modelId="{093ECE48-C650-4F60-8E69-F941C5A0C76B}">
      <dgm:prSet phldrT="[Text]" phldr="0"/>
      <dgm:spPr/>
      <dgm:t>
        <a:bodyPr/>
        <a:lstStyle/>
        <a:p>
          <a:r>
            <a:rPr lang="en-US" b="0" dirty="0">
              <a:latin typeface="Arial"/>
              <a:cs typeface="Arial"/>
            </a:rPr>
            <a:t>Companies with </a:t>
          </a:r>
          <a:r>
            <a:rPr lang="en-US" b="1" dirty="0">
              <a:latin typeface="Arial"/>
              <a:cs typeface="Arial"/>
            </a:rPr>
            <a:t>smaller employee counts</a:t>
          </a:r>
          <a:r>
            <a:rPr lang="en-US" dirty="0">
              <a:latin typeface="Arial"/>
              <a:cs typeface="Arial"/>
            </a:rPr>
            <a:t> report lower ratings on ease of use, customer satisfaction, value for money, NPS.</a:t>
          </a:r>
        </a:p>
      </dgm:t>
    </dgm:pt>
    <dgm:pt modelId="{E5BA0EA0-B51C-4B2F-A9E5-D4FC0F3B9BB8}" type="parTrans" cxnId="{FEF84DB4-68A8-47C7-ABA1-2CC24AD3C302}">
      <dgm:prSet/>
      <dgm:spPr/>
      <dgm:t>
        <a:bodyPr/>
        <a:lstStyle/>
        <a:p>
          <a:endParaRPr lang="en-US"/>
        </a:p>
      </dgm:t>
    </dgm:pt>
    <dgm:pt modelId="{2B27A478-C424-4D9B-BC08-786A61C1516E}" type="sibTrans" cxnId="{FEF84DB4-68A8-47C7-ABA1-2CC24AD3C302}">
      <dgm:prSet/>
      <dgm:spPr/>
      <dgm:t>
        <a:bodyPr/>
        <a:lstStyle/>
        <a:p>
          <a:endParaRPr lang="en-US"/>
        </a:p>
      </dgm:t>
    </dgm:pt>
    <dgm:pt modelId="{0A740EAB-3726-479F-AA92-DC5494E64E40}">
      <dgm:prSet phldrT="[Text]" phldr="0"/>
      <dgm:spPr/>
      <dgm:t>
        <a:bodyPr/>
        <a:lstStyle/>
        <a:p>
          <a:r>
            <a:rPr lang="en-US" b="1" dirty="0">
              <a:latin typeface="Arial"/>
              <a:cs typeface="Arial"/>
            </a:rPr>
            <a:t>Newer clients</a:t>
          </a:r>
          <a:r>
            <a:rPr lang="en-US" dirty="0">
              <a:latin typeface="Arial"/>
              <a:cs typeface="Arial"/>
            </a:rPr>
            <a:t> (0-5 months, 6-10 months, 1-2 years) rate </a:t>
          </a:r>
          <a:r>
            <a:rPr lang="en-US" dirty="0" err="1">
              <a:latin typeface="Arial"/>
              <a:cs typeface="Arial"/>
            </a:rPr>
            <a:t>Wagepoint</a:t>
          </a:r>
          <a:r>
            <a:rPr lang="en-US" dirty="0">
              <a:latin typeface="Arial"/>
              <a:cs typeface="Arial"/>
            </a:rPr>
            <a:t> lower compared to clients who have been with the platform for 2+ years.</a:t>
          </a:r>
        </a:p>
      </dgm:t>
    </dgm:pt>
    <dgm:pt modelId="{649737E0-96CC-4A9C-BF6B-6F644902AB01}" type="parTrans" cxnId="{6BFC2E48-352F-44D5-9680-8BEDB3B8B783}">
      <dgm:prSet/>
      <dgm:spPr/>
      <dgm:t>
        <a:bodyPr/>
        <a:lstStyle/>
        <a:p>
          <a:endParaRPr lang="en-US"/>
        </a:p>
      </dgm:t>
    </dgm:pt>
    <dgm:pt modelId="{08D69C55-8B15-466E-BECB-640A02A55203}" type="sibTrans" cxnId="{6BFC2E48-352F-44D5-9680-8BEDB3B8B783}">
      <dgm:prSet/>
      <dgm:spPr/>
      <dgm:t>
        <a:bodyPr/>
        <a:lstStyle/>
        <a:p>
          <a:endParaRPr lang="en-US"/>
        </a:p>
      </dgm:t>
    </dgm:pt>
    <dgm:pt modelId="{F1F27798-9172-4E5D-A789-FE06E9B80789}">
      <dgm:prSet phldrT="[Text]" phldr="0"/>
      <dgm:spPr/>
      <dgm:t>
        <a:bodyPr/>
        <a:lstStyle/>
        <a:p>
          <a:r>
            <a:rPr lang="en-US" b="1" dirty="0">
              <a:latin typeface="Arial"/>
              <a:cs typeface="Arial"/>
            </a:rPr>
            <a:t>Monthly users</a:t>
          </a:r>
          <a:r>
            <a:rPr lang="en-US" dirty="0">
              <a:latin typeface="Arial"/>
              <a:cs typeface="Arial"/>
            </a:rPr>
            <a:t> rate the platform lower on CSAT metrics compared to daily or weekly users.</a:t>
          </a:r>
        </a:p>
      </dgm:t>
    </dgm:pt>
    <dgm:pt modelId="{F2655F04-C03B-4993-AF8A-F37D11D22C7C}" type="parTrans" cxnId="{DE29E0C9-0151-43D3-8758-683B7D9C7970}">
      <dgm:prSet/>
      <dgm:spPr/>
      <dgm:t>
        <a:bodyPr/>
        <a:lstStyle/>
        <a:p>
          <a:endParaRPr lang="en-US"/>
        </a:p>
      </dgm:t>
    </dgm:pt>
    <dgm:pt modelId="{90DCBFE1-E735-4372-960D-42EA267CA29F}" type="sibTrans" cxnId="{DE29E0C9-0151-43D3-8758-683B7D9C7970}">
      <dgm:prSet/>
      <dgm:spPr/>
      <dgm:t>
        <a:bodyPr/>
        <a:lstStyle/>
        <a:p>
          <a:endParaRPr lang="en-US"/>
        </a:p>
      </dgm:t>
    </dgm:pt>
    <dgm:pt modelId="{241642CE-E61B-4E1C-9297-EF10DF5A4AAD}">
      <dgm:prSet phldr="0"/>
      <dgm:spPr/>
      <dgm:t>
        <a:bodyPr/>
        <a:lstStyle/>
        <a:p>
          <a:pPr rtl="0"/>
          <a:r>
            <a:rPr lang="en-US" dirty="0">
              <a:latin typeface="Arial"/>
              <a:cs typeface="Arial"/>
            </a:rPr>
            <a:t>Customers frequently cite the need for a </a:t>
          </a:r>
          <a:r>
            <a:rPr lang="en-US" b="1" dirty="0">
              <a:latin typeface="Arial"/>
              <a:cs typeface="Arial"/>
            </a:rPr>
            <a:t>dedicated call agent, UI improvement, and high price </a:t>
          </a:r>
          <a:r>
            <a:rPr lang="en-US" b="0" dirty="0">
              <a:latin typeface="Arial"/>
              <a:cs typeface="Arial"/>
            </a:rPr>
            <a:t>as</a:t>
          </a:r>
          <a:r>
            <a:rPr lang="en-US" dirty="0">
              <a:latin typeface="Arial"/>
              <a:cs typeface="Arial"/>
            </a:rPr>
            <a:t> their primary pain points.</a:t>
          </a:r>
        </a:p>
      </dgm:t>
    </dgm:pt>
    <dgm:pt modelId="{DBAD6058-1E77-4787-8D97-AADFEE5B5AAE}" type="parTrans" cxnId="{A9EB89F6-38CC-427C-A175-1CFD8A171234}">
      <dgm:prSet/>
      <dgm:spPr/>
    </dgm:pt>
    <dgm:pt modelId="{FB10B63D-E6FD-4C17-A78F-0BA41EF15207}" type="sibTrans" cxnId="{A9EB89F6-38CC-427C-A175-1CFD8A171234}">
      <dgm:prSet/>
      <dgm:spPr/>
      <dgm:t>
        <a:bodyPr/>
        <a:lstStyle/>
        <a:p>
          <a:endParaRPr lang="en-US"/>
        </a:p>
      </dgm:t>
    </dgm:pt>
    <dgm:pt modelId="{E43E27DD-9C64-458E-9CAC-1670D7FA14C6}" type="pres">
      <dgm:prSet presAssocID="{56C87D1E-7379-46A1-8F0E-E89811F2BD00}" presName="root" presStyleCnt="0">
        <dgm:presLayoutVars>
          <dgm:dir/>
          <dgm:resizeHandles val="exact"/>
        </dgm:presLayoutVars>
      </dgm:prSet>
      <dgm:spPr/>
    </dgm:pt>
    <dgm:pt modelId="{E74C0984-7D3D-4D91-8913-1B0613CC9C8E}" type="pres">
      <dgm:prSet presAssocID="{56C87D1E-7379-46A1-8F0E-E89811F2BD00}" presName="container" presStyleCnt="0">
        <dgm:presLayoutVars>
          <dgm:dir/>
          <dgm:resizeHandles val="exact"/>
        </dgm:presLayoutVars>
      </dgm:prSet>
      <dgm:spPr/>
    </dgm:pt>
    <dgm:pt modelId="{2C330BE3-8BD9-4452-B27D-2718E96489B4}" type="pres">
      <dgm:prSet presAssocID="{093ECE48-C650-4F60-8E69-F941C5A0C76B}" presName="compNode" presStyleCnt="0"/>
      <dgm:spPr/>
    </dgm:pt>
    <dgm:pt modelId="{B43E2E44-DFA8-4842-AA5C-D373B2CCD951}" type="pres">
      <dgm:prSet presAssocID="{093ECE48-C650-4F60-8E69-F941C5A0C76B}" presName="iconBgRect" presStyleLbl="bgShp" presStyleIdx="0" presStyleCnt="4"/>
      <dgm:spPr/>
    </dgm:pt>
    <dgm:pt modelId="{C5CBD35A-4F10-4DDB-8A05-1C1931D00BB8}" type="pres">
      <dgm:prSet presAssocID="{093ECE48-C650-4F60-8E69-F941C5A0C76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B14C6D61-59E6-4928-A037-EEA78FAFCCF7}" type="pres">
      <dgm:prSet presAssocID="{093ECE48-C650-4F60-8E69-F941C5A0C76B}" presName="spaceRect" presStyleCnt="0"/>
      <dgm:spPr/>
    </dgm:pt>
    <dgm:pt modelId="{B5720316-3028-44BE-A8AB-8E67E3ADE3FC}" type="pres">
      <dgm:prSet presAssocID="{093ECE48-C650-4F60-8E69-F941C5A0C76B}" presName="textRect" presStyleLbl="revTx" presStyleIdx="0" presStyleCnt="4">
        <dgm:presLayoutVars>
          <dgm:chMax val="1"/>
          <dgm:chPref val="1"/>
        </dgm:presLayoutVars>
      </dgm:prSet>
      <dgm:spPr/>
    </dgm:pt>
    <dgm:pt modelId="{B5219B21-1B3B-4226-83C8-078AECA72BE5}" type="pres">
      <dgm:prSet presAssocID="{2B27A478-C424-4D9B-BC08-786A61C1516E}" presName="sibTrans" presStyleLbl="sibTrans2D1" presStyleIdx="0" presStyleCnt="0"/>
      <dgm:spPr/>
    </dgm:pt>
    <dgm:pt modelId="{DAE39933-A259-427C-BEE2-7F28966B3E5F}" type="pres">
      <dgm:prSet presAssocID="{0A740EAB-3726-479F-AA92-DC5494E64E40}" presName="compNode" presStyleCnt="0"/>
      <dgm:spPr/>
    </dgm:pt>
    <dgm:pt modelId="{D4D127A0-5736-422B-964D-BD83F020159A}" type="pres">
      <dgm:prSet presAssocID="{0A740EAB-3726-479F-AA92-DC5494E64E40}" presName="iconBgRect" presStyleLbl="bgShp" presStyleIdx="1" presStyleCnt="4"/>
      <dgm:spPr/>
    </dgm:pt>
    <dgm:pt modelId="{FAC8624D-6444-40CB-B0BE-7ABCAB75B9BD}" type="pres">
      <dgm:prSet presAssocID="{0A740EAB-3726-479F-AA92-DC5494E64E4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F9465914-61BA-4B11-86B1-AC32598B5AC5}" type="pres">
      <dgm:prSet presAssocID="{0A740EAB-3726-479F-AA92-DC5494E64E40}" presName="spaceRect" presStyleCnt="0"/>
      <dgm:spPr/>
    </dgm:pt>
    <dgm:pt modelId="{DFB87EC5-1A24-44BA-AC86-AD0F00EC2C60}" type="pres">
      <dgm:prSet presAssocID="{0A740EAB-3726-479F-AA92-DC5494E64E40}" presName="textRect" presStyleLbl="revTx" presStyleIdx="1" presStyleCnt="4">
        <dgm:presLayoutVars>
          <dgm:chMax val="1"/>
          <dgm:chPref val="1"/>
        </dgm:presLayoutVars>
      </dgm:prSet>
      <dgm:spPr/>
    </dgm:pt>
    <dgm:pt modelId="{B7A2FA9E-01F6-4475-9B68-06696E20ED96}" type="pres">
      <dgm:prSet presAssocID="{08D69C55-8B15-466E-BECB-640A02A55203}" presName="sibTrans" presStyleLbl="sibTrans2D1" presStyleIdx="0" presStyleCnt="0"/>
      <dgm:spPr/>
    </dgm:pt>
    <dgm:pt modelId="{9AD5555D-9B94-4FBE-BA2E-94F544CB2906}" type="pres">
      <dgm:prSet presAssocID="{F1F27798-9172-4E5D-A789-FE06E9B80789}" presName="compNode" presStyleCnt="0"/>
      <dgm:spPr/>
    </dgm:pt>
    <dgm:pt modelId="{4CEAD800-B08A-46B9-9391-85539A82A864}" type="pres">
      <dgm:prSet presAssocID="{F1F27798-9172-4E5D-A789-FE06E9B80789}" presName="iconBgRect" presStyleLbl="bgShp" presStyleIdx="2" presStyleCnt="4"/>
      <dgm:spPr/>
    </dgm:pt>
    <dgm:pt modelId="{CF49BF8C-D187-46CC-A569-69227CF65163}" type="pres">
      <dgm:prSet presAssocID="{F1F27798-9172-4E5D-A789-FE06E9B8078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3E70CBE9-A3C7-4D90-B29B-66F4E3D1C69D}" type="pres">
      <dgm:prSet presAssocID="{F1F27798-9172-4E5D-A789-FE06E9B80789}" presName="spaceRect" presStyleCnt="0"/>
      <dgm:spPr/>
    </dgm:pt>
    <dgm:pt modelId="{758D09EF-2426-45DA-8AA8-D8A5B7702AEA}" type="pres">
      <dgm:prSet presAssocID="{F1F27798-9172-4E5D-A789-FE06E9B80789}" presName="textRect" presStyleLbl="revTx" presStyleIdx="2" presStyleCnt="4">
        <dgm:presLayoutVars>
          <dgm:chMax val="1"/>
          <dgm:chPref val="1"/>
        </dgm:presLayoutVars>
      </dgm:prSet>
      <dgm:spPr/>
    </dgm:pt>
    <dgm:pt modelId="{A14F3513-4341-47FE-8F2B-AD3B23AADE3D}" type="pres">
      <dgm:prSet presAssocID="{90DCBFE1-E735-4372-960D-42EA267CA29F}" presName="sibTrans" presStyleLbl="sibTrans2D1" presStyleIdx="0" presStyleCnt="0"/>
      <dgm:spPr/>
    </dgm:pt>
    <dgm:pt modelId="{CFEF85AD-2D91-4842-8B57-6C390B2CFECB}" type="pres">
      <dgm:prSet presAssocID="{241642CE-E61B-4E1C-9297-EF10DF5A4AAD}" presName="compNode" presStyleCnt="0"/>
      <dgm:spPr/>
    </dgm:pt>
    <dgm:pt modelId="{19758AB7-E0C2-4965-B8C6-1698FB0E796C}" type="pres">
      <dgm:prSet presAssocID="{241642CE-E61B-4E1C-9297-EF10DF5A4AAD}" presName="iconBgRect" presStyleLbl="bgShp" presStyleIdx="3" presStyleCnt="4"/>
      <dgm:spPr/>
    </dgm:pt>
    <dgm:pt modelId="{AC0D4303-4760-40E5-AEB1-D362D3E6F5E3}" type="pres">
      <dgm:prSet presAssocID="{241642CE-E61B-4E1C-9297-EF10DF5A4AA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b Design"/>
        </a:ext>
      </dgm:extLst>
    </dgm:pt>
    <dgm:pt modelId="{AE0D129C-40BA-4673-A9B5-DE31E8B40DFF}" type="pres">
      <dgm:prSet presAssocID="{241642CE-E61B-4E1C-9297-EF10DF5A4AAD}" presName="spaceRect" presStyleCnt="0"/>
      <dgm:spPr/>
    </dgm:pt>
    <dgm:pt modelId="{E776B8C7-4F70-4D8E-85AB-7ADA227D2935}" type="pres">
      <dgm:prSet presAssocID="{241642CE-E61B-4E1C-9297-EF10DF5A4AAD}" presName="textRect" presStyleLbl="revTx" presStyleIdx="3" presStyleCnt="4">
        <dgm:presLayoutVars>
          <dgm:chMax val="1"/>
          <dgm:chPref val="1"/>
        </dgm:presLayoutVars>
      </dgm:prSet>
      <dgm:spPr/>
    </dgm:pt>
  </dgm:ptLst>
  <dgm:cxnLst>
    <dgm:cxn modelId="{45329F0A-2A87-4FF0-B593-76C4E95A2217}" type="presOf" srcId="{241642CE-E61B-4E1C-9297-EF10DF5A4AAD}" destId="{E776B8C7-4F70-4D8E-85AB-7ADA227D2935}" srcOrd="0" destOrd="0" presId="urn:microsoft.com/office/officeart/2018/2/layout/IconCircleList"/>
    <dgm:cxn modelId="{50C6DE0A-C790-4E14-94B4-62439C16D668}" type="presOf" srcId="{56C87D1E-7379-46A1-8F0E-E89811F2BD00}" destId="{E43E27DD-9C64-458E-9CAC-1670D7FA14C6}" srcOrd="0" destOrd="0" presId="urn:microsoft.com/office/officeart/2018/2/layout/IconCircleList"/>
    <dgm:cxn modelId="{B61A6743-E0EC-43E6-BBB5-A9D799F33D8C}" type="presOf" srcId="{093ECE48-C650-4F60-8E69-F941C5A0C76B}" destId="{B5720316-3028-44BE-A8AB-8E67E3ADE3FC}" srcOrd="0" destOrd="0" presId="urn:microsoft.com/office/officeart/2018/2/layout/IconCircleList"/>
    <dgm:cxn modelId="{6BFC2E48-352F-44D5-9680-8BEDB3B8B783}" srcId="{56C87D1E-7379-46A1-8F0E-E89811F2BD00}" destId="{0A740EAB-3726-479F-AA92-DC5494E64E40}" srcOrd="1" destOrd="0" parTransId="{649737E0-96CC-4A9C-BF6B-6F644902AB01}" sibTransId="{08D69C55-8B15-466E-BECB-640A02A55203}"/>
    <dgm:cxn modelId="{69865E76-2606-4B63-B2B1-49759339595F}" type="presOf" srcId="{F1F27798-9172-4E5D-A789-FE06E9B80789}" destId="{758D09EF-2426-45DA-8AA8-D8A5B7702AEA}" srcOrd="0" destOrd="0" presId="urn:microsoft.com/office/officeart/2018/2/layout/IconCircleList"/>
    <dgm:cxn modelId="{63D0F77B-9D9D-4B14-ABED-C1E34F5236F0}" type="presOf" srcId="{08D69C55-8B15-466E-BECB-640A02A55203}" destId="{B7A2FA9E-01F6-4475-9B68-06696E20ED96}" srcOrd="0" destOrd="0" presId="urn:microsoft.com/office/officeart/2018/2/layout/IconCircleList"/>
    <dgm:cxn modelId="{FEF84DB4-68A8-47C7-ABA1-2CC24AD3C302}" srcId="{56C87D1E-7379-46A1-8F0E-E89811F2BD00}" destId="{093ECE48-C650-4F60-8E69-F941C5A0C76B}" srcOrd="0" destOrd="0" parTransId="{E5BA0EA0-B51C-4B2F-A9E5-D4FC0F3B9BB8}" sibTransId="{2B27A478-C424-4D9B-BC08-786A61C1516E}"/>
    <dgm:cxn modelId="{DE29E0C9-0151-43D3-8758-683B7D9C7970}" srcId="{56C87D1E-7379-46A1-8F0E-E89811F2BD00}" destId="{F1F27798-9172-4E5D-A789-FE06E9B80789}" srcOrd="2" destOrd="0" parTransId="{F2655F04-C03B-4993-AF8A-F37D11D22C7C}" sibTransId="{90DCBFE1-E735-4372-960D-42EA267CA29F}"/>
    <dgm:cxn modelId="{9673CFCE-B171-4802-8691-E0CFF054E7CA}" type="presOf" srcId="{0A740EAB-3726-479F-AA92-DC5494E64E40}" destId="{DFB87EC5-1A24-44BA-AC86-AD0F00EC2C60}" srcOrd="0" destOrd="0" presId="urn:microsoft.com/office/officeart/2018/2/layout/IconCircleList"/>
    <dgm:cxn modelId="{E6787EDC-A15A-483D-A5E2-819D905CD05D}" type="presOf" srcId="{90DCBFE1-E735-4372-960D-42EA267CA29F}" destId="{A14F3513-4341-47FE-8F2B-AD3B23AADE3D}" srcOrd="0" destOrd="0" presId="urn:microsoft.com/office/officeart/2018/2/layout/IconCircleList"/>
    <dgm:cxn modelId="{FAEEE2E0-6782-4290-972E-F8C4E99F2FFA}" type="presOf" srcId="{2B27A478-C424-4D9B-BC08-786A61C1516E}" destId="{B5219B21-1B3B-4226-83C8-078AECA72BE5}" srcOrd="0" destOrd="0" presId="urn:microsoft.com/office/officeart/2018/2/layout/IconCircleList"/>
    <dgm:cxn modelId="{A9EB89F6-38CC-427C-A175-1CFD8A171234}" srcId="{56C87D1E-7379-46A1-8F0E-E89811F2BD00}" destId="{241642CE-E61B-4E1C-9297-EF10DF5A4AAD}" srcOrd="3" destOrd="0" parTransId="{DBAD6058-1E77-4787-8D97-AADFEE5B5AAE}" sibTransId="{FB10B63D-E6FD-4C17-A78F-0BA41EF15207}"/>
    <dgm:cxn modelId="{E0DA3E0F-F444-4F1E-8706-4F789012B6B1}" type="presParOf" srcId="{E43E27DD-9C64-458E-9CAC-1670D7FA14C6}" destId="{E74C0984-7D3D-4D91-8913-1B0613CC9C8E}" srcOrd="0" destOrd="0" presId="urn:microsoft.com/office/officeart/2018/2/layout/IconCircleList"/>
    <dgm:cxn modelId="{EE6E115A-32AF-482C-BDE5-C9E2D7272CAA}" type="presParOf" srcId="{E74C0984-7D3D-4D91-8913-1B0613CC9C8E}" destId="{2C330BE3-8BD9-4452-B27D-2718E96489B4}" srcOrd="0" destOrd="0" presId="urn:microsoft.com/office/officeart/2018/2/layout/IconCircleList"/>
    <dgm:cxn modelId="{0C6D5BB4-CCC4-436D-92E0-117ED0D79238}" type="presParOf" srcId="{2C330BE3-8BD9-4452-B27D-2718E96489B4}" destId="{B43E2E44-DFA8-4842-AA5C-D373B2CCD951}" srcOrd="0" destOrd="0" presId="urn:microsoft.com/office/officeart/2018/2/layout/IconCircleList"/>
    <dgm:cxn modelId="{E44287B8-FE3F-40F0-9F4A-743803C14167}" type="presParOf" srcId="{2C330BE3-8BD9-4452-B27D-2718E96489B4}" destId="{C5CBD35A-4F10-4DDB-8A05-1C1931D00BB8}" srcOrd="1" destOrd="0" presId="urn:microsoft.com/office/officeart/2018/2/layout/IconCircleList"/>
    <dgm:cxn modelId="{C4C1AC6E-A89C-4A26-9989-3A935CA5A178}" type="presParOf" srcId="{2C330BE3-8BD9-4452-B27D-2718E96489B4}" destId="{B14C6D61-59E6-4928-A037-EEA78FAFCCF7}" srcOrd="2" destOrd="0" presId="urn:microsoft.com/office/officeart/2018/2/layout/IconCircleList"/>
    <dgm:cxn modelId="{4AA257AD-7FE2-4819-B226-F8836C0E0BF6}" type="presParOf" srcId="{2C330BE3-8BD9-4452-B27D-2718E96489B4}" destId="{B5720316-3028-44BE-A8AB-8E67E3ADE3FC}" srcOrd="3" destOrd="0" presId="urn:microsoft.com/office/officeart/2018/2/layout/IconCircleList"/>
    <dgm:cxn modelId="{124C2910-8351-4003-91E8-200922157945}" type="presParOf" srcId="{E74C0984-7D3D-4D91-8913-1B0613CC9C8E}" destId="{B5219B21-1B3B-4226-83C8-078AECA72BE5}" srcOrd="1" destOrd="0" presId="urn:microsoft.com/office/officeart/2018/2/layout/IconCircleList"/>
    <dgm:cxn modelId="{62DCCE32-EAE4-415C-86C2-5CF9EA433331}" type="presParOf" srcId="{E74C0984-7D3D-4D91-8913-1B0613CC9C8E}" destId="{DAE39933-A259-427C-BEE2-7F28966B3E5F}" srcOrd="2" destOrd="0" presId="urn:microsoft.com/office/officeart/2018/2/layout/IconCircleList"/>
    <dgm:cxn modelId="{BACB395E-964E-4992-BB10-E39604FB8D42}" type="presParOf" srcId="{DAE39933-A259-427C-BEE2-7F28966B3E5F}" destId="{D4D127A0-5736-422B-964D-BD83F020159A}" srcOrd="0" destOrd="0" presId="urn:microsoft.com/office/officeart/2018/2/layout/IconCircleList"/>
    <dgm:cxn modelId="{986FA484-C60E-42F0-A398-AEF372382594}" type="presParOf" srcId="{DAE39933-A259-427C-BEE2-7F28966B3E5F}" destId="{FAC8624D-6444-40CB-B0BE-7ABCAB75B9BD}" srcOrd="1" destOrd="0" presId="urn:microsoft.com/office/officeart/2018/2/layout/IconCircleList"/>
    <dgm:cxn modelId="{9D15CF91-9A30-45EF-9E45-26AD49348B40}" type="presParOf" srcId="{DAE39933-A259-427C-BEE2-7F28966B3E5F}" destId="{F9465914-61BA-4B11-86B1-AC32598B5AC5}" srcOrd="2" destOrd="0" presId="urn:microsoft.com/office/officeart/2018/2/layout/IconCircleList"/>
    <dgm:cxn modelId="{74B8DFB6-F4B6-4388-BEB6-1A494D5B9FC8}" type="presParOf" srcId="{DAE39933-A259-427C-BEE2-7F28966B3E5F}" destId="{DFB87EC5-1A24-44BA-AC86-AD0F00EC2C60}" srcOrd="3" destOrd="0" presId="urn:microsoft.com/office/officeart/2018/2/layout/IconCircleList"/>
    <dgm:cxn modelId="{3DC46339-08E1-445C-800D-7C7F4FD90FC8}" type="presParOf" srcId="{E74C0984-7D3D-4D91-8913-1B0613CC9C8E}" destId="{B7A2FA9E-01F6-4475-9B68-06696E20ED96}" srcOrd="3" destOrd="0" presId="urn:microsoft.com/office/officeart/2018/2/layout/IconCircleList"/>
    <dgm:cxn modelId="{0212007A-D6F6-498A-A9E8-D1E401A2FFE6}" type="presParOf" srcId="{E74C0984-7D3D-4D91-8913-1B0613CC9C8E}" destId="{9AD5555D-9B94-4FBE-BA2E-94F544CB2906}" srcOrd="4" destOrd="0" presId="urn:microsoft.com/office/officeart/2018/2/layout/IconCircleList"/>
    <dgm:cxn modelId="{4EC94C96-8DE7-4522-8935-9C30351CF663}" type="presParOf" srcId="{9AD5555D-9B94-4FBE-BA2E-94F544CB2906}" destId="{4CEAD800-B08A-46B9-9391-85539A82A864}" srcOrd="0" destOrd="0" presId="urn:microsoft.com/office/officeart/2018/2/layout/IconCircleList"/>
    <dgm:cxn modelId="{76F43B49-9254-4B8F-8BE5-4F30B78709A3}" type="presParOf" srcId="{9AD5555D-9B94-4FBE-BA2E-94F544CB2906}" destId="{CF49BF8C-D187-46CC-A569-69227CF65163}" srcOrd="1" destOrd="0" presId="urn:microsoft.com/office/officeart/2018/2/layout/IconCircleList"/>
    <dgm:cxn modelId="{2D418E40-61AF-4F0B-A1FA-0DC74B8E2B86}" type="presParOf" srcId="{9AD5555D-9B94-4FBE-BA2E-94F544CB2906}" destId="{3E70CBE9-A3C7-4D90-B29B-66F4E3D1C69D}" srcOrd="2" destOrd="0" presId="urn:microsoft.com/office/officeart/2018/2/layout/IconCircleList"/>
    <dgm:cxn modelId="{77DAFFC8-C8CA-4F0C-B724-75E87F153A1D}" type="presParOf" srcId="{9AD5555D-9B94-4FBE-BA2E-94F544CB2906}" destId="{758D09EF-2426-45DA-8AA8-D8A5B7702AEA}" srcOrd="3" destOrd="0" presId="urn:microsoft.com/office/officeart/2018/2/layout/IconCircleList"/>
    <dgm:cxn modelId="{CCCD1C51-0D72-4EE8-A5BF-8F0973D6EEBB}" type="presParOf" srcId="{E74C0984-7D3D-4D91-8913-1B0613CC9C8E}" destId="{A14F3513-4341-47FE-8F2B-AD3B23AADE3D}" srcOrd="5" destOrd="0" presId="urn:microsoft.com/office/officeart/2018/2/layout/IconCircleList"/>
    <dgm:cxn modelId="{E756D9FF-5438-4BEC-B6C4-0706D6DBFAA6}" type="presParOf" srcId="{E74C0984-7D3D-4D91-8913-1B0613CC9C8E}" destId="{CFEF85AD-2D91-4842-8B57-6C390B2CFECB}" srcOrd="6" destOrd="0" presId="urn:microsoft.com/office/officeart/2018/2/layout/IconCircleList"/>
    <dgm:cxn modelId="{8AB8D0CE-7F81-4ACB-A77F-F69A5C95921C}" type="presParOf" srcId="{CFEF85AD-2D91-4842-8B57-6C390B2CFECB}" destId="{19758AB7-E0C2-4965-B8C6-1698FB0E796C}" srcOrd="0" destOrd="0" presId="urn:microsoft.com/office/officeart/2018/2/layout/IconCircleList"/>
    <dgm:cxn modelId="{62F92B95-0849-4F4D-9A21-0FD4330F2A15}" type="presParOf" srcId="{CFEF85AD-2D91-4842-8B57-6C390B2CFECB}" destId="{AC0D4303-4760-40E5-AEB1-D362D3E6F5E3}" srcOrd="1" destOrd="0" presId="urn:microsoft.com/office/officeart/2018/2/layout/IconCircleList"/>
    <dgm:cxn modelId="{74703AC4-8A91-4FBF-A634-B4EFFF24498B}" type="presParOf" srcId="{CFEF85AD-2D91-4842-8B57-6C390B2CFECB}" destId="{AE0D129C-40BA-4673-A9B5-DE31E8B40DFF}" srcOrd="2" destOrd="0" presId="urn:microsoft.com/office/officeart/2018/2/layout/IconCircleList"/>
    <dgm:cxn modelId="{0B972AF1-A170-47DE-98A9-232B8862414C}" type="presParOf" srcId="{CFEF85AD-2D91-4842-8B57-6C390B2CFECB}" destId="{E776B8C7-4F70-4D8E-85AB-7ADA227D2935}"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13332BD-BFD0-4537-B68C-A9FF2D09B23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123D2BF-F2E4-4BDA-9EFC-23A02B030449}">
      <dgm:prSet/>
      <dgm:spPr/>
      <dgm:t>
        <a:bodyPr/>
        <a:lstStyle/>
        <a:p>
          <a:r>
            <a:rPr lang="en-US" b="1" dirty="0">
              <a:latin typeface="Arial"/>
              <a:cs typeface="Arial"/>
            </a:rPr>
            <a:t>Tailored Support for Smaller Companies</a:t>
          </a:r>
          <a:r>
            <a:rPr lang="en-US" dirty="0">
              <a:latin typeface="Arial"/>
              <a:cs typeface="Arial"/>
            </a:rPr>
            <a:t>: Provide personalized onboarding and proactive support to address their unique challenges.</a:t>
          </a:r>
        </a:p>
      </dgm:t>
    </dgm:pt>
    <dgm:pt modelId="{E0B12280-CD9E-4A2B-88F4-EF243C3B9DAB}" type="parTrans" cxnId="{DD2B390C-56CB-4E86-AB84-780FFDB00B07}">
      <dgm:prSet/>
      <dgm:spPr/>
      <dgm:t>
        <a:bodyPr/>
        <a:lstStyle/>
        <a:p>
          <a:endParaRPr lang="en-US"/>
        </a:p>
      </dgm:t>
    </dgm:pt>
    <dgm:pt modelId="{6D190696-9E47-436C-8C61-E54C57DBEC94}" type="sibTrans" cxnId="{DD2B390C-56CB-4E86-AB84-780FFDB00B07}">
      <dgm:prSet/>
      <dgm:spPr/>
      <dgm:t>
        <a:bodyPr/>
        <a:lstStyle/>
        <a:p>
          <a:endParaRPr lang="en-US"/>
        </a:p>
      </dgm:t>
    </dgm:pt>
    <dgm:pt modelId="{27BD4214-6E81-43EA-BC7F-63A9CDAE3694}">
      <dgm:prSet/>
      <dgm:spPr/>
      <dgm:t>
        <a:bodyPr/>
        <a:lstStyle/>
        <a:p>
          <a:r>
            <a:rPr lang="en-US" b="1" dirty="0">
              <a:latin typeface="Arial"/>
              <a:cs typeface="Arial"/>
            </a:rPr>
            <a:t>Enhanced Onboarding for New Clients (0-2 Years)</a:t>
          </a:r>
          <a:r>
            <a:rPr lang="en-US" dirty="0">
              <a:latin typeface="Arial"/>
              <a:cs typeface="Arial"/>
            </a:rPr>
            <a:t>: Implement milestone-based check-ins and regular engagement to improve early-stage satisfaction.</a:t>
          </a:r>
        </a:p>
      </dgm:t>
    </dgm:pt>
    <dgm:pt modelId="{A4D64BCC-4DE4-4BBD-8BFF-B499F5FCE72D}" type="parTrans" cxnId="{58DE395F-C6EE-42D1-B575-E756A09EEC73}">
      <dgm:prSet/>
      <dgm:spPr/>
      <dgm:t>
        <a:bodyPr/>
        <a:lstStyle/>
        <a:p>
          <a:endParaRPr lang="en-US"/>
        </a:p>
      </dgm:t>
    </dgm:pt>
    <dgm:pt modelId="{585D2A97-AE30-4227-8DA6-E2AD418D3D32}" type="sibTrans" cxnId="{58DE395F-C6EE-42D1-B575-E756A09EEC73}">
      <dgm:prSet/>
      <dgm:spPr/>
      <dgm:t>
        <a:bodyPr/>
        <a:lstStyle/>
        <a:p>
          <a:endParaRPr lang="en-US"/>
        </a:p>
      </dgm:t>
    </dgm:pt>
    <dgm:pt modelId="{9AE4D0DB-2F16-45C1-A897-381B29499637}">
      <dgm:prSet/>
      <dgm:spPr/>
      <dgm:t>
        <a:bodyPr/>
        <a:lstStyle/>
        <a:p>
          <a:r>
            <a:rPr lang="en-US" b="1" dirty="0">
              <a:latin typeface="Arial"/>
              <a:cs typeface="Arial"/>
            </a:rPr>
            <a:t>Engagement for Monthly Users</a:t>
          </a:r>
          <a:r>
            <a:rPr lang="en-US" dirty="0">
              <a:latin typeface="Arial"/>
              <a:cs typeface="Arial"/>
            </a:rPr>
            <a:t>: Offer targeted communication and features to increase interaction and value perception.</a:t>
          </a:r>
        </a:p>
      </dgm:t>
    </dgm:pt>
    <dgm:pt modelId="{2AB1CD4A-0D97-4BDC-B50E-D194BDB0F03A}" type="parTrans" cxnId="{29655368-1CFE-457C-B65C-2B7D2DA391C5}">
      <dgm:prSet/>
      <dgm:spPr/>
      <dgm:t>
        <a:bodyPr/>
        <a:lstStyle/>
        <a:p>
          <a:endParaRPr lang="en-US"/>
        </a:p>
      </dgm:t>
    </dgm:pt>
    <dgm:pt modelId="{18835109-6F19-4932-B19C-B809DDD7FC3A}" type="sibTrans" cxnId="{29655368-1CFE-457C-B65C-2B7D2DA391C5}">
      <dgm:prSet/>
      <dgm:spPr/>
      <dgm:t>
        <a:bodyPr/>
        <a:lstStyle/>
        <a:p>
          <a:endParaRPr lang="en-US"/>
        </a:p>
      </dgm:t>
    </dgm:pt>
    <dgm:pt modelId="{1926E934-D13E-4DFE-BA24-A28DA11139EB}">
      <dgm:prSet/>
      <dgm:spPr/>
      <dgm:t>
        <a:bodyPr/>
        <a:lstStyle/>
        <a:p>
          <a:r>
            <a:rPr lang="en-US" b="1" dirty="0">
              <a:latin typeface="Arial"/>
              <a:cs typeface="Arial"/>
            </a:rPr>
            <a:t>Address Key Cons</a:t>
          </a:r>
          <a:r>
            <a:rPr lang="en-US" dirty="0">
              <a:latin typeface="Arial"/>
              <a:cs typeface="Arial"/>
            </a:rPr>
            <a:t>: Introduce optional call agent support, improve UI, and offer flexible pricing models to address customer pain points.</a:t>
          </a:r>
        </a:p>
      </dgm:t>
    </dgm:pt>
    <dgm:pt modelId="{5A9EB8B3-AA45-41DC-9F0F-68A18B90685C}" type="parTrans" cxnId="{E950FD1E-93B2-4891-BBC6-098080A94BE2}">
      <dgm:prSet/>
      <dgm:spPr/>
      <dgm:t>
        <a:bodyPr/>
        <a:lstStyle/>
        <a:p>
          <a:endParaRPr lang="en-US"/>
        </a:p>
      </dgm:t>
    </dgm:pt>
    <dgm:pt modelId="{19B3AEF9-3841-4887-A24C-6AACE6B463F9}" type="sibTrans" cxnId="{E950FD1E-93B2-4891-BBC6-098080A94BE2}">
      <dgm:prSet/>
      <dgm:spPr/>
      <dgm:t>
        <a:bodyPr/>
        <a:lstStyle/>
        <a:p>
          <a:endParaRPr lang="en-US"/>
        </a:p>
      </dgm:t>
    </dgm:pt>
    <dgm:pt modelId="{54FD015A-BCA7-45D2-952E-FA82112F9833}" type="pres">
      <dgm:prSet presAssocID="{F13332BD-BFD0-4537-B68C-A9FF2D09B237}" presName="root" presStyleCnt="0">
        <dgm:presLayoutVars>
          <dgm:dir/>
          <dgm:resizeHandles val="exact"/>
        </dgm:presLayoutVars>
      </dgm:prSet>
      <dgm:spPr/>
    </dgm:pt>
    <dgm:pt modelId="{80A1FE2A-3055-4A34-9B67-7E695C080EB5}" type="pres">
      <dgm:prSet presAssocID="{3123D2BF-F2E4-4BDA-9EFC-23A02B030449}" presName="compNode" presStyleCnt="0"/>
      <dgm:spPr/>
    </dgm:pt>
    <dgm:pt modelId="{5A5D0761-D8D2-4B30-B098-E4FE5855D64E}" type="pres">
      <dgm:prSet presAssocID="{3123D2BF-F2E4-4BDA-9EFC-23A02B030449}" presName="bgRect" presStyleLbl="bgShp" presStyleIdx="0" presStyleCnt="4"/>
      <dgm:spPr/>
    </dgm:pt>
    <dgm:pt modelId="{701115B7-397D-419C-AB5D-424E66C80435}" type="pres">
      <dgm:prSet presAssocID="{3123D2BF-F2E4-4BDA-9EFC-23A02B03044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C314AFED-615F-46D4-B18B-DBD6BCDE0897}" type="pres">
      <dgm:prSet presAssocID="{3123D2BF-F2E4-4BDA-9EFC-23A02B030449}" presName="spaceRect" presStyleCnt="0"/>
      <dgm:spPr/>
    </dgm:pt>
    <dgm:pt modelId="{E0B4AC02-2277-4D75-AD0A-6BC16A060983}" type="pres">
      <dgm:prSet presAssocID="{3123D2BF-F2E4-4BDA-9EFC-23A02B030449}" presName="parTx" presStyleLbl="revTx" presStyleIdx="0" presStyleCnt="4">
        <dgm:presLayoutVars>
          <dgm:chMax val="0"/>
          <dgm:chPref val="0"/>
        </dgm:presLayoutVars>
      </dgm:prSet>
      <dgm:spPr/>
    </dgm:pt>
    <dgm:pt modelId="{AF9654BB-0ECA-4138-9A1A-E3C4D3CD9859}" type="pres">
      <dgm:prSet presAssocID="{6D190696-9E47-436C-8C61-E54C57DBEC94}" presName="sibTrans" presStyleCnt="0"/>
      <dgm:spPr/>
    </dgm:pt>
    <dgm:pt modelId="{A52734D2-DE3D-44D5-830B-E0C1336D9E46}" type="pres">
      <dgm:prSet presAssocID="{27BD4214-6E81-43EA-BC7F-63A9CDAE3694}" presName="compNode" presStyleCnt="0"/>
      <dgm:spPr/>
    </dgm:pt>
    <dgm:pt modelId="{52D2F6BA-B39A-4FA8-A0F3-84376F26C1F5}" type="pres">
      <dgm:prSet presAssocID="{27BD4214-6E81-43EA-BC7F-63A9CDAE3694}" presName="bgRect" presStyleLbl="bgShp" presStyleIdx="1" presStyleCnt="4"/>
      <dgm:spPr/>
    </dgm:pt>
    <dgm:pt modelId="{4BB3127E-6CE4-4E51-BD46-9279F93EE025}" type="pres">
      <dgm:prSet presAssocID="{27BD4214-6E81-43EA-BC7F-63A9CDAE369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nce"/>
        </a:ext>
      </dgm:extLst>
    </dgm:pt>
    <dgm:pt modelId="{26FB672E-AC05-4456-96DC-99090C96D0EA}" type="pres">
      <dgm:prSet presAssocID="{27BD4214-6E81-43EA-BC7F-63A9CDAE3694}" presName="spaceRect" presStyleCnt="0"/>
      <dgm:spPr/>
    </dgm:pt>
    <dgm:pt modelId="{C63F512E-89C8-43C5-A3AD-F8B0FC5A2F2E}" type="pres">
      <dgm:prSet presAssocID="{27BD4214-6E81-43EA-BC7F-63A9CDAE3694}" presName="parTx" presStyleLbl="revTx" presStyleIdx="1" presStyleCnt="4">
        <dgm:presLayoutVars>
          <dgm:chMax val="0"/>
          <dgm:chPref val="0"/>
        </dgm:presLayoutVars>
      </dgm:prSet>
      <dgm:spPr/>
    </dgm:pt>
    <dgm:pt modelId="{07EA9F1A-8E7E-4EEC-89E6-F9CEA0195F31}" type="pres">
      <dgm:prSet presAssocID="{585D2A97-AE30-4227-8DA6-E2AD418D3D32}" presName="sibTrans" presStyleCnt="0"/>
      <dgm:spPr/>
    </dgm:pt>
    <dgm:pt modelId="{DCAFE95E-1780-48DF-8067-27CB8773A3C1}" type="pres">
      <dgm:prSet presAssocID="{9AE4D0DB-2F16-45C1-A897-381B29499637}" presName="compNode" presStyleCnt="0"/>
      <dgm:spPr/>
    </dgm:pt>
    <dgm:pt modelId="{D2A62808-18B1-4BDB-8C77-9230F1DACA37}" type="pres">
      <dgm:prSet presAssocID="{9AE4D0DB-2F16-45C1-A897-381B29499637}" presName="bgRect" presStyleLbl="bgShp" presStyleIdx="2" presStyleCnt="4"/>
      <dgm:spPr/>
    </dgm:pt>
    <dgm:pt modelId="{F309EC20-4582-4354-AFB8-9DAA7166D853}" type="pres">
      <dgm:prSet presAssocID="{9AE4D0DB-2F16-45C1-A897-381B2949963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btitles"/>
        </a:ext>
      </dgm:extLst>
    </dgm:pt>
    <dgm:pt modelId="{12F33348-5653-49B1-A9A7-8AC9FD2179F5}" type="pres">
      <dgm:prSet presAssocID="{9AE4D0DB-2F16-45C1-A897-381B29499637}" presName="spaceRect" presStyleCnt="0"/>
      <dgm:spPr/>
    </dgm:pt>
    <dgm:pt modelId="{89BF8DD3-A17A-47A5-8A41-90B5BF56E7AB}" type="pres">
      <dgm:prSet presAssocID="{9AE4D0DB-2F16-45C1-A897-381B29499637}" presName="parTx" presStyleLbl="revTx" presStyleIdx="2" presStyleCnt="4">
        <dgm:presLayoutVars>
          <dgm:chMax val="0"/>
          <dgm:chPref val="0"/>
        </dgm:presLayoutVars>
      </dgm:prSet>
      <dgm:spPr/>
    </dgm:pt>
    <dgm:pt modelId="{BEED2C42-3877-4B9B-80FF-ED3943319603}" type="pres">
      <dgm:prSet presAssocID="{18835109-6F19-4932-B19C-B809DDD7FC3A}" presName="sibTrans" presStyleCnt="0"/>
      <dgm:spPr/>
    </dgm:pt>
    <dgm:pt modelId="{68874C12-3310-4043-98B7-E8032AC06983}" type="pres">
      <dgm:prSet presAssocID="{1926E934-D13E-4DFE-BA24-A28DA11139EB}" presName="compNode" presStyleCnt="0"/>
      <dgm:spPr/>
    </dgm:pt>
    <dgm:pt modelId="{432F36A5-9029-40B9-8ADF-533E7816DAE8}" type="pres">
      <dgm:prSet presAssocID="{1926E934-D13E-4DFE-BA24-A28DA11139EB}" presName="bgRect" presStyleLbl="bgShp" presStyleIdx="3" presStyleCnt="4"/>
      <dgm:spPr/>
    </dgm:pt>
    <dgm:pt modelId="{B08A2547-3690-43D6-8936-1AA82A1F518F}" type="pres">
      <dgm:prSet presAssocID="{1926E934-D13E-4DFE-BA24-A28DA11139E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ll center"/>
        </a:ext>
      </dgm:extLst>
    </dgm:pt>
    <dgm:pt modelId="{C8DE2D3C-AB08-46BA-A2A9-744C4C5CAC22}" type="pres">
      <dgm:prSet presAssocID="{1926E934-D13E-4DFE-BA24-A28DA11139EB}" presName="spaceRect" presStyleCnt="0"/>
      <dgm:spPr/>
    </dgm:pt>
    <dgm:pt modelId="{2EA81FAB-171F-4887-8121-B5B931232974}" type="pres">
      <dgm:prSet presAssocID="{1926E934-D13E-4DFE-BA24-A28DA11139EB}" presName="parTx" presStyleLbl="revTx" presStyleIdx="3" presStyleCnt="4">
        <dgm:presLayoutVars>
          <dgm:chMax val="0"/>
          <dgm:chPref val="0"/>
        </dgm:presLayoutVars>
      </dgm:prSet>
      <dgm:spPr/>
    </dgm:pt>
  </dgm:ptLst>
  <dgm:cxnLst>
    <dgm:cxn modelId="{DD2B390C-56CB-4E86-AB84-780FFDB00B07}" srcId="{F13332BD-BFD0-4537-B68C-A9FF2D09B237}" destId="{3123D2BF-F2E4-4BDA-9EFC-23A02B030449}" srcOrd="0" destOrd="0" parTransId="{E0B12280-CD9E-4A2B-88F4-EF243C3B9DAB}" sibTransId="{6D190696-9E47-436C-8C61-E54C57DBEC94}"/>
    <dgm:cxn modelId="{E950FD1E-93B2-4891-BBC6-098080A94BE2}" srcId="{F13332BD-BFD0-4537-B68C-A9FF2D09B237}" destId="{1926E934-D13E-4DFE-BA24-A28DA11139EB}" srcOrd="3" destOrd="0" parTransId="{5A9EB8B3-AA45-41DC-9F0F-68A18B90685C}" sibTransId="{19B3AEF9-3841-4887-A24C-6AACE6B463F9}"/>
    <dgm:cxn modelId="{B49BB63D-0D13-4195-8D57-089A33C12D27}" type="presOf" srcId="{1926E934-D13E-4DFE-BA24-A28DA11139EB}" destId="{2EA81FAB-171F-4887-8121-B5B931232974}" srcOrd="0" destOrd="0" presId="urn:microsoft.com/office/officeart/2018/2/layout/IconVerticalSolidList"/>
    <dgm:cxn modelId="{58DE395F-C6EE-42D1-B575-E756A09EEC73}" srcId="{F13332BD-BFD0-4537-B68C-A9FF2D09B237}" destId="{27BD4214-6E81-43EA-BC7F-63A9CDAE3694}" srcOrd="1" destOrd="0" parTransId="{A4D64BCC-4DE4-4BBD-8BFF-B499F5FCE72D}" sibTransId="{585D2A97-AE30-4227-8DA6-E2AD418D3D32}"/>
    <dgm:cxn modelId="{29655368-1CFE-457C-B65C-2B7D2DA391C5}" srcId="{F13332BD-BFD0-4537-B68C-A9FF2D09B237}" destId="{9AE4D0DB-2F16-45C1-A897-381B29499637}" srcOrd="2" destOrd="0" parTransId="{2AB1CD4A-0D97-4BDC-B50E-D194BDB0F03A}" sibTransId="{18835109-6F19-4932-B19C-B809DDD7FC3A}"/>
    <dgm:cxn modelId="{E00F664D-FFD4-4535-9F2A-ADAE2AC8DC1B}" type="presOf" srcId="{27BD4214-6E81-43EA-BC7F-63A9CDAE3694}" destId="{C63F512E-89C8-43C5-A3AD-F8B0FC5A2F2E}" srcOrd="0" destOrd="0" presId="urn:microsoft.com/office/officeart/2018/2/layout/IconVerticalSolidList"/>
    <dgm:cxn modelId="{8CC61A51-C298-4D90-8A14-247CDAFAB64A}" type="presOf" srcId="{3123D2BF-F2E4-4BDA-9EFC-23A02B030449}" destId="{E0B4AC02-2277-4D75-AD0A-6BC16A060983}" srcOrd="0" destOrd="0" presId="urn:microsoft.com/office/officeart/2018/2/layout/IconVerticalSolidList"/>
    <dgm:cxn modelId="{003D867E-D683-4B27-A862-000F56012E3F}" type="presOf" srcId="{9AE4D0DB-2F16-45C1-A897-381B29499637}" destId="{89BF8DD3-A17A-47A5-8A41-90B5BF56E7AB}" srcOrd="0" destOrd="0" presId="urn:microsoft.com/office/officeart/2018/2/layout/IconVerticalSolidList"/>
    <dgm:cxn modelId="{A37DCDB1-EC84-4A60-A5A2-E190D497709F}" type="presOf" srcId="{F13332BD-BFD0-4537-B68C-A9FF2D09B237}" destId="{54FD015A-BCA7-45D2-952E-FA82112F9833}" srcOrd="0" destOrd="0" presId="urn:microsoft.com/office/officeart/2018/2/layout/IconVerticalSolidList"/>
    <dgm:cxn modelId="{06AF6847-BE29-4869-9B31-11E23232FFE9}" type="presParOf" srcId="{54FD015A-BCA7-45D2-952E-FA82112F9833}" destId="{80A1FE2A-3055-4A34-9B67-7E695C080EB5}" srcOrd="0" destOrd="0" presId="urn:microsoft.com/office/officeart/2018/2/layout/IconVerticalSolidList"/>
    <dgm:cxn modelId="{1A01AC7E-0497-43C9-838B-E00E7C81FC03}" type="presParOf" srcId="{80A1FE2A-3055-4A34-9B67-7E695C080EB5}" destId="{5A5D0761-D8D2-4B30-B098-E4FE5855D64E}" srcOrd="0" destOrd="0" presId="urn:microsoft.com/office/officeart/2018/2/layout/IconVerticalSolidList"/>
    <dgm:cxn modelId="{225014B8-6D42-4578-A354-582BBC90EB7A}" type="presParOf" srcId="{80A1FE2A-3055-4A34-9B67-7E695C080EB5}" destId="{701115B7-397D-419C-AB5D-424E66C80435}" srcOrd="1" destOrd="0" presId="urn:microsoft.com/office/officeart/2018/2/layout/IconVerticalSolidList"/>
    <dgm:cxn modelId="{E7B96CB3-EA80-4AFF-B95C-266ADAA5B42A}" type="presParOf" srcId="{80A1FE2A-3055-4A34-9B67-7E695C080EB5}" destId="{C314AFED-615F-46D4-B18B-DBD6BCDE0897}" srcOrd="2" destOrd="0" presId="urn:microsoft.com/office/officeart/2018/2/layout/IconVerticalSolidList"/>
    <dgm:cxn modelId="{170F78A3-185C-4134-B15F-8D5E20273E3A}" type="presParOf" srcId="{80A1FE2A-3055-4A34-9B67-7E695C080EB5}" destId="{E0B4AC02-2277-4D75-AD0A-6BC16A060983}" srcOrd="3" destOrd="0" presId="urn:microsoft.com/office/officeart/2018/2/layout/IconVerticalSolidList"/>
    <dgm:cxn modelId="{92E81EF8-A515-4AF7-ACC7-A4C3807ED0B6}" type="presParOf" srcId="{54FD015A-BCA7-45D2-952E-FA82112F9833}" destId="{AF9654BB-0ECA-4138-9A1A-E3C4D3CD9859}" srcOrd="1" destOrd="0" presId="urn:microsoft.com/office/officeart/2018/2/layout/IconVerticalSolidList"/>
    <dgm:cxn modelId="{61065A70-5FF5-4576-B8FE-F76B873F38D8}" type="presParOf" srcId="{54FD015A-BCA7-45D2-952E-FA82112F9833}" destId="{A52734D2-DE3D-44D5-830B-E0C1336D9E46}" srcOrd="2" destOrd="0" presId="urn:microsoft.com/office/officeart/2018/2/layout/IconVerticalSolidList"/>
    <dgm:cxn modelId="{23D238CF-4BC4-456B-BCE9-D52315DB786B}" type="presParOf" srcId="{A52734D2-DE3D-44D5-830B-E0C1336D9E46}" destId="{52D2F6BA-B39A-4FA8-A0F3-84376F26C1F5}" srcOrd="0" destOrd="0" presId="urn:microsoft.com/office/officeart/2018/2/layout/IconVerticalSolidList"/>
    <dgm:cxn modelId="{F7F8A3D9-3D48-41BA-BE15-B9D76AC589A0}" type="presParOf" srcId="{A52734D2-DE3D-44D5-830B-E0C1336D9E46}" destId="{4BB3127E-6CE4-4E51-BD46-9279F93EE025}" srcOrd="1" destOrd="0" presId="urn:microsoft.com/office/officeart/2018/2/layout/IconVerticalSolidList"/>
    <dgm:cxn modelId="{CAED87DD-1D8A-4B10-88EF-7C132DAFCEA6}" type="presParOf" srcId="{A52734D2-DE3D-44D5-830B-E0C1336D9E46}" destId="{26FB672E-AC05-4456-96DC-99090C96D0EA}" srcOrd="2" destOrd="0" presId="urn:microsoft.com/office/officeart/2018/2/layout/IconVerticalSolidList"/>
    <dgm:cxn modelId="{C66F8F44-646A-4310-B4CC-B8B35B587534}" type="presParOf" srcId="{A52734D2-DE3D-44D5-830B-E0C1336D9E46}" destId="{C63F512E-89C8-43C5-A3AD-F8B0FC5A2F2E}" srcOrd="3" destOrd="0" presId="urn:microsoft.com/office/officeart/2018/2/layout/IconVerticalSolidList"/>
    <dgm:cxn modelId="{C4C1821C-1789-44F2-A47C-09184F248CAF}" type="presParOf" srcId="{54FD015A-BCA7-45D2-952E-FA82112F9833}" destId="{07EA9F1A-8E7E-4EEC-89E6-F9CEA0195F31}" srcOrd="3" destOrd="0" presId="urn:microsoft.com/office/officeart/2018/2/layout/IconVerticalSolidList"/>
    <dgm:cxn modelId="{2D7FEBFB-0B0C-4831-A87D-F9864E888E35}" type="presParOf" srcId="{54FD015A-BCA7-45D2-952E-FA82112F9833}" destId="{DCAFE95E-1780-48DF-8067-27CB8773A3C1}" srcOrd="4" destOrd="0" presId="urn:microsoft.com/office/officeart/2018/2/layout/IconVerticalSolidList"/>
    <dgm:cxn modelId="{5E33D610-9E00-4121-B362-D710B5BA3A28}" type="presParOf" srcId="{DCAFE95E-1780-48DF-8067-27CB8773A3C1}" destId="{D2A62808-18B1-4BDB-8C77-9230F1DACA37}" srcOrd="0" destOrd="0" presId="urn:microsoft.com/office/officeart/2018/2/layout/IconVerticalSolidList"/>
    <dgm:cxn modelId="{319F5CE9-0649-4411-B6A5-B05244F7C884}" type="presParOf" srcId="{DCAFE95E-1780-48DF-8067-27CB8773A3C1}" destId="{F309EC20-4582-4354-AFB8-9DAA7166D853}" srcOrd="1" destOrd="0" presId="urn:microsoft.com/office/officeart/2018/2/layout/IconVerticalSolidList"/>
    <dgm:cxn modelId="{D34CAB3A-26AE-4797-B4B1-04A5AE57AED1}" type="presParOf" srcId="{DCAFE95E-1780-48DF-8067-27CB8773A3C1}" destId="{12F33348-5653-49B1-A9A7-8AC9FD2179F5}" srcOrd="2" destOrd="0" presId="urn:microsoft.com/office/officeart/2018/2/layout/IconVerticalSolidList"/>
    <dgm:cxn modelId="{85016405-640B-435E-9BEF-02B49F0B6F70}" type="presParOf" srcId="{DCAFE95E-1780-48DF-8067-27CB8773A3C1}" destId="{89BF8DD3-A17A-47A5-8A41-90B5BF56E7AB}" srcOrd="3" destOrd="0" presId="urn:microsoft.com/office/officeart/2018/2/layout/IconVerticalSolidList"/>
    <dgm:cxn modelId="{90580B74-F21F-4BB8-902D-491B661D314A}" type="presParOf" srcId="{54FD015A-BCA7-45D2-952E-FA82112F9833}" destId="{BEED2C42-3877-4B9B-80FF-ED3943319603}" srcOrd="5" destOrd="0" presId="urn:microsoft.com/office/officeart/2018/2/layout/IconVerticalSolidList"/>
    <dgm:cxn modelId="{E0EE69A3-0C1C-4CF0-8ED1-28287EF222C5}" type="presParOf" srcId="{54FD015A-BCA7-45D2-952E-FA82112F9833}" destId="{68874C12-3310-4043-98B7-E8032AC06983}" srcOrd="6" destOrd="0" presId="urn:microsoft.com/office/officeart/2018/2/layout/IconVerticalSolidList"/>
    <dgm:cxn modelId="{65F85D73-2CEF-4227-BBDD-3F52C1E8C07E}" type="presParOf" srcId="{68874C12-3310-4043-98B7-E8032AC06983}" destId="{432F36A5-9029-40B9-8ADF-533E7816DAE8}" srcOrd="0" destOrd="0" presId="urn:microsoft.com/office/officeart/2018/2/layout/IconVerticalSolidList"/>
    <dgm:cxn modelId="{F8776FAD-E24D-43A6-A035-9AF9093B78DD}" type="presParOf" srcId="{68874C12-3310-4043-98B7-E8032AC06983}" destId="{B08A2547-3690-43D6-8936-1AA82A1F518F}" srcOrd="1" destOrd="0" presId="urn:microsoft.com/office/officeart/2018/2/layout/IconVerticalSolidList"/>
    <dgm:cxn modelId="{895866E4-51CF-4ABD-A78D-6CCAC6CA5E0C}" type="presParOf" srcId="{68874C12-3310-4043-98B7-E8032AC06983}" destId="{C8DE2D3C-AB08-46BA-A2A9-744C4C5CAC22}" srcOrd="2" destOrd="0" presId="urn:microsoft.com/office/officeart/2018/2/layout/IconVerticalSolidList"/>
    <dgm:cxn modelId="{A5EAC519-4D40-4E37-93DE-021C1DDE7A4F}" type="presParOf" srcId="{68874C12-3310-4043-98B7-E8032AC06983}" destId="{2EA81FAB-171F-4887-8121-B5B93123297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22C4ED1-EE71-49F0-9E1B-6BC5B98CEFAC}" type="doc">
      <dgm:prSet loTypeId="urn:microsoft.com/office/officeart/2018/2/layout/IconVerticalSolid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BA293287-FFF3-4ACE-A206-213DB14F1E0D}">
      <dgm:prSet/>
      <dgm:spPr/>
      <dgm:t>
        <a:bodyPr/>
        <a:lstStyle/>
        <a:p>
          <a:pPr>
            <a:lnSpc>
              <a:spcPct val="100000"/>
            </a:lnSpc>
          </a:pPr>
          <a:r>
            <a:rPr lang="en-US" dirty="0">
              <a:latin typeface="Arial"/>
              <a:cs typeface="Arial"/>
            </a:rPr>
            <a:t>F</a:t>
          </a:r>
          <a:r>
            <a:rPr lang="en-US" b="0" dirty="0">
              <a:latin typeface="Arial"/>
              <a:cs typeface="Arial"/>
            </a:rPr>
            <a:t>or Companies with Low Employee Count:</a:t>
          </a:r>
          <a:r>
            <a:rPr lang="en-US" dirty="0">
              <a:latin typeface="Arial"/>
              <a:cs typeface="Arial"/>
            </a:rPr>
            <a:t> Customer Satisfaction Score (CSAT), Net Promoter Score (NPS)</a:t>
          </a:r>
        </a:p>
      </dgm:t>
    </dgm:pt>
    <dgm:pt modelId="{2CA8A976-FB90-47F4-B27B-897C18BE7558}" type="parTrans" cxnId="{F807EE46-DA40-4678-AF61-A211267E99FF}">
      <dgm:prSet/>
      <dgm:spPr/>
      <dgm:t>
        <a:bodyPr/>
        <a:lstStyle/>
        <a:p>
          <a:endParaRPr lang="en-US"/>
        </a:p>
      </dgm:t>
    </dgm:pt>
    <dgm:pt modelId="{0A65C573-CA7E-4FD7-8AC4-553ACDBDC7BB}" type="sibTrans" cxnId="{F807EE46-DA40-4678-AF61-A211267E99FF}">
      <dgm:prSet/>
      <dgm:spPr/>
      <dgm:t>
        <a:bodyPr/>
        <a:lstStyle/>
        <a:p>
          <a:endParaRPr lang="en-US"/>
        </a:p>
      </dgm:t>
    </dgm:pt>
    <dgm:pt modelId="{A95665AD-57DF-405B-8940-468762D17EEE}">
      <dgm:prSet/>
      <dgm:spPr/>
      <dgm:t>
        <a:bodyPr/>
        <a:lstStyle/>
        <a:p>
          <a:pPr>
            <a:lnSpc>
              <a:spcPct val="100000"/>
            </a:lnSpc>
          </a:pPr>
          <a:r>
            <a:rPr lang="en-US" dirty="0">
              <a:latin typeface="Arial"/>
              <a:cs typeface="Arial"/>
            </a:rPr>
            <a:t>For New Clients (0-2 Years): Customer Retention Rate (CRR), Onboarding Satisfaction Score (OSS)</a:t>
          </a:r>
        </a:p>
      </dgm:t>
    </dgm:pt>
    <dgm:pt modelId="{6F031136-61C6-4F3A-9AF4-5151131AD126}" type="parTrans" cxnId="{E23FA530-115B-42AF-B104-1770584173FB}">
      <dgm:prSet/>
      <dgm:spPr/>
      <dgm:t>
        <a:bodyPr/>
        <a:lstStyle/>
        <a:p>
          <a:endParaRPr lang="en-US"/>
        </a:p>
      </dgm:t>
    </dgm:pt>
    <dgm:pt modelId="{34D62C94-5475-4C59-AC8D-16A94AA50031}" type="sibTrans" cxnId="{E23FA530-115B-42AF-B104-1770584173FB}">
      <dgm:prSet/>
      <dgm:spPr/>
      <dgm:t>
        <a:bodyPr/>
        <a:lstStyle/>
        <a:p>
          <a:endParaRPr lang="en-US"/>
        </a:p>
      </dgm:t>
    </dgm:pt>
    <dgm:pt modelId="{F7F3B991-6FFB-44B0-91F1-C9AE4EBDBD46}">
      <dgm:prSet/>
      <dgm:spPr/>
      <dgm:t>
        <a:bodyPr/>
        <a:lstStyle/>
        <a:p>
          <a:pPr>
            <a:lnSpc>
              <a:spcPct val="100000"/>
            </a:lnSpc>
          </a:pPr>
          <a:r>
            <a:rPr lang="en-US" dirty="0">
              <a:latin typeface="Arial"/>
              <a:cs typeface="Arial"/>
            </a:rPr>
            <a:t>For Monthly Users: User Engagement Rate (UER), CSAT for Monthly Users</a:t>
          </a:r>
        </a:p>
      </dgm:t>
    </dgm:pt>
    <dgm:pt modelId="{EF577ACF-6722-4D26-9B1D-ED9D66D08DC8}" type="parTrans" cxnId="{3F8C1957-0009-466E-A8D9-A9EB2E5D31FC}">
      <dgm:prSet/>
      <dgm:spPr/>
      <dgm:t>
        <a:bodyPr/>
        <a:lstStyle/>
        <a:p>
          <a:endParaRPr lang="en-US"/>
        </a:p>
      </dgm:t>
    </dgm:pt>
    <dgm:pt modelId="{270E9AB6-37A7-4A68-9277-CF9AA61DECCD}" type="sibTrans" cxnId="{3F8C1957-0009-466E-A8D9-A9EB2E5D31FC}">
      <dgm:prSet/>
      <dgm:spPr/>
      <dgm:t>
        <a:bodyPr/>
        <a:lstStyle/>
        <a:p>
          <a:endParaRPr lang="en-US"/>
        </a:p>
      </dgm:t>
    </dgm:pt>
    <dgm:pt modelId="{2C7F652E-E081-4C7B-A5F2-1019ECFAC20C}">
      <dgm:prSet/>
      <dgm:spPr/>
      <dgm:t>
        <a:bodyPr/>
        <a:lstStyle/>
        <a:p>
          <a:pPr>
            <a:lnSpc>
              <a:spcPct val="100000"/>
            </a:lnSpc>
          </a:pPr>
          <a:r>
            <a:rPr lang="en-US" dirty="0">
              <a:latin typeface="Arial"/>
              <a:cs typeface="Arial"/>
            </a:rPr>
            <a:t>Addressing Key Cons: Customer Support Ticket Volume, UI Satisfaction Score</a:t>
          </a:r>
        </a:p>
      </dgm:t>
    </dgm:pt>
    <dgm:pt modelId="{0FFD75F5-59FC-41F6-9926-D1DC1FADE419}" type="parTrans" cxnId="{71149E42-CE78-481B-9008-36A0AC6E5DFF}">
      <dgm:prSet/>
      <dgm:spPr/>
      <dgm:t>
        <a:bodyPr/>
        <a:lstStyle/>
        <a:p>
          <a:endParaRPr lang="en-US"/>
        </a:p>
      </dgm:t>
    </dgm:pt>
    <dgm:pt modelId="{B1676C90-B41E-4A1A-A99B-DBC78DBA347E}" type="sibTrans" cxnId="{71149E42-CE78-481B-9008-36A0AC6E5DFF}">
      <dgm:prSet/>
      <dgm:spPr/>
      <dgm:t>
        <a:bodyPr/>
        <a:lstStyle/>
        <a:p>
          <a:endParaRPr lang="en-US"/>
        </a:p>
      </dgm:t>
    </dgm:pt>
    <dgm:pt modelId="{D6D6CA77-2614-4DDC-9C31-75BD89C6355D}" type="pres">
      <dgm:prSet presAssocID="{622C4ED1-EE71-49F0-9E1B-6BC5B98CEFAC}" presName="root" presStyleCnt="0">
        <dgm:presLayoutVars>
          <dgm:dir/>
          <dgm:resizeHandles val="exact"/>
        </dgm:presLayoutVars>
      </dgm:prSet>
      <dgm:spPr/>
    </dgm:pt>
    <dgm:pt modelId="{6FABFA98-4F10-453C-BCB1-86D296011B27}" type="pres">
      <dgm:prSet presAssocID="{BA293287-FFF3-4ACE-A206-213DB14F1E0D}" presName="compNode" presStyleCnt="0"/>
      <dgm:spPr/>
    </dgm:pt>
    <dgm:pt modelId="{3BB45745-B1E0-4853-8179-DB8E2E8EB2CE}" type="pres">
      <dgm:prSet presAssocID="{BA293287-FFF3-4ACE-A206-213DB14F1E0D}" presName="bgRect" presStyleLbl="bgShp" presStyleIdx="0" presStyleCnt="4"/>
      <dgm:spPr/>
    </dgm:pt>
    <dgm:pt modelId="{FFF111CF-6A33-4359-A636-11452F3BB484}" type="pres">
      <dgm:prSet presAssocID="{BA293287-FFF3-4ACE-A206-213DB14F1E0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r"/>
        </a:ext>
      </dgm:extLst>
    </dgm:pt>
    <dgm:pt modelId="{D72D7820-BB25-4F1C-A35F-0716CD6580C6}" type="pres">
      <dgm:prSet presAssocID="{BA293287-FFF3-4ACE-A206-213DB14F1E0D}" presName="spaceRect" presStyleCnt="0"/>
      <dgm:spPr/>
    </dgm:pt>
    <dgm:pt modelId="{CCEF0CD8-4052-4248-8851-B02047867FC0}" type="pres">
      <dgm:prSet presAssocID="{BA293287-FFF3-4ACE-A206-213DB14F1E0D}" presName="parTx" presStyleLbl="revTx" presStyleIdx="0" presStyleCnt="4">
        <dgm:presLayoutVars>
          <dgm:chMax val="0"/>
          <dgm:chPref val="0"/>
        </dgm:presLayoutVars>
      </dgm:prSet>
      <dgm:spPr/>
    </dgm:pt>
    <dgm:pt modelId="{46F1CE4F-5DE4-40C4-8EE7-CE01110E5349}" type="pres">
      <dgm:prSet presAssocID="{0A65C573-CA7E-4FD7-8AC4-553ACDBDC7BB}" presName="sibTrans" presStyleCnt="0"/>
      <dgm:spPr/>
    </dgm:pt>
    <dgm:pt modelId="{ECA902C1-AA61-4AA8-BBAA-7A86F23C884F}" type="pres">
      <dgm:prSet presAssocID="{A95665AD-57DF-405B-8940-468762D17EEE}" presName="compNode" presStyleCnt="0"/>
      <dgm:spPr/>
    </dgm:pt>
    <dgm:pt modelId="{6595C754-7FD3-415F-9A90-57B565D430B2}" type="pres">
      <dgm:prSet presAssocID="{A95665AD-57DF-405B-8940-468762D17EEE}" presName="bgRect" presStyleLbl="bgShp" presStyleIdx="1" presStyleCnt="4"/>
      <dgm:spPr/>
    </dgm:pt>
    <dgm:pt modelId="{719AB092-131D-448B-BA2D-0195AD310EFC}" type="pres">
      <dgm:prSet presAssocID="{A95665AD-57DF-405B-8940-468762D17EE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ummingBird"/>
        </a:ext>
      </dgm:extLst>
    </dgm:pt>
    <dgm:pt modelId="{FBCA109B-4E32-4564-854E-BC54693CD398}" type="pres">
      <dgm:prSet presAssocID="{A95665AD-57DF-405B-8940-468762D17EEE}" presName="spaceRect" presStyleCnt="0"/>
      <dgm:spPr/>
    </dgm:pt>
    <dgm:pt modelId="{82C66C3E-3241-4163-B563-C91E5C3DCC25}" type="pres">
      <dgm:prSet presAssocID="{A95665AD-57DF-405B-8940-468762D17EEE}" presName="parTx" presStyleLbl="revTx" presStyleIdx="1" presStyleCnt="4">
        <dgm:presLayoutVars>
          <dgm:chMax val="0"/>
          <dgm:chPref val="0"/>
        </dgm:presLayoutVars>
      </dgm:prSet>
      <dgm:spPr/>
    </dgm:pt>
    <dgm:pt modelId="{E6CD5372-BA32-4A50-A960-FAE8A7FAF4D5}" type="pres">
      <dgm:prSet presAssocID="{34D62C94-5475-4C59-AC8D-16A94AA50031}" presName="sibTrans" presStyleCnt="0"/>
      <dgm:spPr/>
    </dgm:pt>
    <dgm:pt modelId="{265425D8-1F6C-4573-A7BD-B70D90D8C08B}" type="pres">
      <dgm:prSet presAssocID="{F7F3B991-6FFB-44B0-91F1-C9AE4EBDBD46}" presName="compNode" presStyleCnt="0"/>
      <dgm:spPr/>
    </dgm:pt>
    <dgm:pt modelId="{BFEFCAD8-7AD2-46D6-9092-C3A9BD26836B}" type="pres">
      <dgm:prSet presAssocID="{F7F3B991-6FFB-44B0-91F1-C9AE4EBDBD46}" presName="bgRect" presStyleLbl="bgShp" presStyleIdx="2" presStyleCnt="4"/>
      <dgm:spPr/>
    </dgm:pt>
    <dgm:pt modelId="{97E7953C-41CC-4D9D-A86B-4EDDC3971B9F}" type="pres">
      <dgm:prSet presAssocID="{F7F3B991-6FFB-44B0-91F1-C9AE4EBDBD4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heatre"/>
        </a:ext>
      </dgm:extLst>
    </dgm:pt>
    <dgm:pt modelId="{630EAB7D-A2E5-473D-9E82-66474EDB630E}" type="pres">
      <dgm:prSet presAssocID="{F7F3B991-6FFB-44B0-91F1-C9AE4EBDBD46}" presName="spaceRect" presStyleCnt="0"/>
      <dgm:spPr/>
    </dgm:pt>
    <dgm:pt modelId="{DDAF8E9E-C53C-4E0D-8B19-E6E4A78A4E4B}" type="pres">
      <dgm:prSet presAssocID="{F7F3B991-6FFB-44B0-91F1-C9AE4EBDBD46}" presName="parTx" presStyleLbl="revTx" presStyleIdx="2" presStyleCnt="4">
        <dgm:presLayoutVars>
          <dgm:chMax val="0"/>
          <dgm:chPref val="0"/>
        </dgm:presLayoutVars>
      </dgm:prSet>
      <dgm:spPr/>
    </dgm:pt>
    <dgm:pt modelId="{7518A952-34CB-4DAD-8169-522881C193F9}" type="pres">
      <dgm:prSet presAssocID="{270E9AB6-37A7-4A68-9277-CF9AA61DECCD}" presName="sibTrans" presStyleCnt="0"/>
      <dgm:spPr/>
    </dgm:pt>
    <dgm:pt modelId="{197F2808-D6FF-493A-B52D-61B912B6AB1A}" type="pres">
      <dgm:prSet presAssocID="{2C7F652E-E081-4C7B-A5F2-1019ECFAC20C}" presName="compNode" presStyleCnt="0"/>
      <dgm:spPr/>
    </dgm:pt>
    <dgm:pt modelId="{C6E6D473-A687-45A4-B1B7-67141A1E775D}" type="pres">
      <dgm:prSet presAssocID="{2C7F652E-E081-4C7B-A5F2-1019ECFAC20C}" presName="bgRect" presStyleLbl="bgShp" presStyleIdx="3" presStyleCnt="4"/>
      <dgm:spPr/>
    </dgm:pt>
    <dgm:pt modelId="{C4CED24F-45D0-4F8D-AE4E-45B358608BF5}" type="pres">
      <dgm:prSet presAssocID="{2C7F652E-E081-4C7B-A5F2-1019ECFAC20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a:ext>
      </dgm:extLst>
    </dgm:pt>
    <dgm:pt modelId="{CC9ED6B2-4BC6-4F95-AD4F-9B9340893178}" type="pres">
      <dgm:prSet presAssocID="{2C7F652E-E081-4C7B-A5F2-1019ECFAC20C}" presName="spaceRect" presStyleCnt="0"/>
      <dgm:spPr/>
    </dgm:pt>
    <dgm:pt modelId="{4536B502-8DB5-4237-A926-6E5A7D4A0247}" type="pres">
      <dgm:prSet presAssocID="{2C7F652E-E081-4C7B-A5F2-1019ECFAC20C}" presName="parTx" presStyleLbl="revTx" presStyleIdx="3" presStyleCnt="4">
        <dgm:presLayoutVars>
          <dgm:chMax val="0"/>
          <dgm:chPref val="0"/>
        </dgm:presLayoutVars>
      </dgm:prSet>
      <dgm:spPr/>
    </dgm:pt>
  </dgm:ptLst>
  <dgm:cxnLst>
    <dgm:cxn modelId="{F7845722-C01B-4888-A76B-63671CEBC4BA}" type="presOf" srcId="{A95665AD-57DF-405B-8940-468762D17EEE}" destId="{82C66C3E-3241-4163-B563-C91E5C3DCC25}" srcOrd="0" destOrd="0" presId="urn:microsoft.com/office/officeart/2018/2/layout/IconVerticalSolidList"/>
    <dgm:cxn modelId="{E23FA530-115B-42AF-B104-1770584173FB}" srcId="{622C4ED1-EE71-49F0-9E1B-6BC5B98CEFAC}" destId="{A95665AD-57DF-405B-8940-468762D17EEE}" srcOrd="1" destOrd="0" parTransId="{6F031136-61C6-4F3A-9AF4-5151131AD126}" sibTransId="{34D62C94-5475-4C59-AC8D-16A94AA50031}"/>
    <dgm:cxn modelId="{BC149F34-F162-42D3-A563-E390F5D80B02}" type="presOf" srcId="{BA293287-FFF3-4ACE-A206-213DB14F1E0D}" destId="{CCEF0CD8-4052-4248-8851-B02047867FC0}" srcOrd="0" destOrd="0" presId="urn:microsoft.com/office/officeart/2018/2/layout/IconVerticalSolidList"/>
    <dgm:cxn modelId="{71149E42-CE78-481B-9008-36A0AC6E5DFF}" srcId="{622C4ED1-EE71-49F0-9E1B-6BC5B98CEFAC}" destId="{2C7F652E-E081-4C7B-A5F2-1019ECFAC20C}" srcOrd="3" destOrd="0" parTransId="{0FFD75F5-59FC-41F6-9926-D1DC1FADE419}" sibTransId="{B1676C90-B41E-4A1A-A99B-DBC78DBA347E}"/>
    <dgm:cxn modelId="{F807EE46-DA40-4678-AF61-A211267E99FF}" srcId="{622C4ED1-EE71-49F0-9E1B-6BC5B98CEFAC}" destId="{BA293287-FFF3-4ACE-A206-213DB14F1E0D}" srcOrd="0" destOrd="0" parTransId="{2CA8A976-FB90-47F4-B27B-897C18BE7558}" sibTransId="{0A65C573-CA7E-4FD7-8AC4-553ACDBDC7BB}"/>
    <dgm:cxn modelId="{B458766B-22A5-4056-AAB7-1B4AE156A194}" type="presOf" srcId="{F7F3B991-6FFB-44B0-91F1-C9AE4EBDBD46}" destId="{DDAF8E9E-C53C-4E0D-8B19-E6E4A78A4E4B}" srcOrd="0" destOrd="0" presId="urn:microsoft.com/office/officeart/2018/2/layout/IconVerticalSolidList"/>
    <dgm:cxn modelId="{3F8C1957-0009-466E-A8D9-A9EB2E5D31FC}" srcId="{622C4ED1-EE71-49F0-9E1B-6BC5B98CEFAC}" destId="{F7F3B991-6FFB-44B0-91F1-C9AE4EBDBD46}" srcOrd="2" destOrd="0" parTransId="{EF577ACF-6722-4D26-9B1D-ED9D66D08DC8}" sibTransId="{270E9AB6-37A7-4A68-9277-CF9AA61DECCD}"/>
    <dgm:cxn modelId="{DF628B5A-1C47-4DCB-ADFC-4F3E9D046625}" type="presOf" srcId="{622C4ED1-EE71-49F0-9E1B-6BC5B98CEFAC}" destId="{D6D6CA77-2614-4DDC-9C31-75BD89C6355D}" srcOrd="0" destOrd="0" presId="urn:microsoft.com/office/officeart/2018/2/layout/IconVerticalSolidList"/>
    <dgm:cxn modelId="{EEFDF4F7-B0B1-430E-8882-3D5A0A7F411F}" type="presOf" srcId="{2C7F652E-E081-4C7B-A5F2-1019ECFAC20C}" destId="{4536B502-8DB5-4237-A926-6E5A7D4A0247}" srcOrd="0" destOrd="0" presId="urn:microsoft.com/office/officeart/2018/2/layout/IconVerticalSolidList"/>
    <dgm:cxn modelId="{BFF0EE57-D935-4429-B796-D5440786FDC1}" type="presParOf" srcId="{D6D6CA77-2614-4DDC-9C31-75BD89C6355D}" destId="{6FABFA98-4F10-453C-BCB1-86D296011B27}" srcOrd="0" destOrd="0" presId="urn:microsoft.com/office/officeart/2018/2/layout/IconVerticalSolidList"/>
    <dgm:cxn modelId="{7D2F92EB-AF0E-4447-91AF-D68DCAD431EE}" type="presParOf" srcId="{6FABFA98-4F10-453C-BCB1-86D296011B27}" destId="{3BB45745-B1E0-4853-8179-DB8E2E8EB2CE}" srcOrd="0" destOrd="0" presId="urn:microsoft.com/office/officeart/2018/2/layout/IconVerticalSolidList"/>
    <dgm:cxn modelId="{FEAAF965-230F-498D-8B80-2251F2EED8CC}" type="presParOf" srcId="{6FABFA98-4F10-453C-BCB1-86D296011B27}" destId="{FFF111CF-6A33-4359-A636-11452F3BB484}" srcOrd="1" destOrd="0" presId="urn:microsoft.com/office/officeart/2018/2/layout/IconVerticalSolidList"/>
    <dgm:cxn modelId="{B9753B89-4A26-4E40-9966-DB769A7A2F8F}" type="presParOf" srcId="{6FABFA98-4F10-453C-BCB1-86D296011B27}" destId="{D72D7820-BB25-4F1C-A35F-0716CD6580C6}" srcOrd="2" destOrd="0" presId="urn:microsoft.com/office/officeart/2018/2/layout/IconVerticalSolidList"/>
    <dgm:cxn modelId="{611CEE60-66BA-4716-A369-8A7554A174BB}" type="presParOf" srcId="{6FABFA98-4F10-453C-BCB1-86D296011B27}" destId="{CCEF0CD8-4052-4248-8851-B02047867FC0}" srcOrd="3" destOrd="0" presId="urn:microsoft.com/office/officeart/2018/2/layout/IconVerticalSolidList"/>
    <dgm:cxn modelId="{04853FE0-0228-4748-8A42-AD7C59214FA3}" type="presParOf" srcId="{D6D6CA77-2614-4DDC-9C31-75BD89C6355D}" destId="{46F1CE4F-5DE4-40C4-8EE7-CE01110E5349}" srcOrd="1" destOrd="0" presId="urn:microsoft.com/office/officeart/2018/2/layout/IconVerticalSolidList"/>
    <dgm:cxn modelId="{2E4A2E31-4917-4915-BE8D-6AF6A7616267}" type="presParOf" srcId="{D6D6CA77-2614-4DDC-9C31-75BD89C6355D}" destId="{ECA902C1-AA61-4AA8-BBAA-7A86F23C884F}" srcOrd="2" destOrd="0" presId="urn:microsoft.com/office/officeart/2018/2/layout/IconVerticalSolidList"/>
    <dgm:cxn modelId="{BD94D1F1-9B6D-42BD-9540-A59602C842FE}" type="presParOf" srcId="{ECA902C1-AA61-4AA8-BBAA-7A86F23C884F}" destId="{6595C754-7FD3-415F-9A90-57B565D430B2}" srcOrd="0" destOrd="0" presId="urn:microsoft.com/office/officeart/2018/2/layout/IconVerticalSolidList"/>
    <dgm:cxn modelId="{BA1C8918-3E0C-4DD3-B610-379F62A1BA9A}" type="presParOf" srcId="{ECA902C1-AA61-4AA8-BBAA-7A86F23C884F}" destId="{719AB092-131D-448B-BA2D-0195AD310EFC}" srcOrd="1" destOrd="0" presId="urn:microsoft.com/office/officeart/2018/2/layout/IconVerticalSolidList"/>
    <dgm:cxn modelId="{6EE92C88-7249-4A28-8F5C-F6BA7C2B5D52}" type="presParOf" srcId="{ECA902C1-AA61-4AA8-BBAA-7A86F23C884F}" destId="{FBCA109B-4E32-4564-854E-BC54693CD398}" srcOrd="2" destOrd="0" presId="urn:microsoft.com/office/officeart/2018/2/layout/IconVerticalSolidList"/>
    <dgm:cxn modelId="{79AE1BA6-CC7E-48CB-9F69-1F10AF5C540E}" type="presParOf" srcId="{ECA902C1-AA61-4AA8-BBAA-7A86F23C884F}" destId="{82C66C3E-3241-4163-B563-C91E5C3DCC25}" srcOrd="3" destOrd="0" presId="urn:microsoft.com/office/officeart/2018/2/layout/IconVerticalSolidList"/>
    <dgm:cxn modelId="{85C8A787-A80B-4F83-BFD6-2A00B3447A9F}" type="presParOf" srcId="{D6D6CA77-2614-4DDC-9C31-75BD89C6355D}" destId="{E6CD5372-BA32-4A50-A960-FAE8A7FAF4D5}" srcOrd="3" destOrd="0" presId="urn:microsoft.com/office/officeart/2018/2/layout/IconVerticalSolidList"/>
    <dgm:cxn modelId="{C57F2B58-F482-4B2D-8DD3-0E2385989949}" type="presParOf" srcId="{D6D6CA77-2614-4DDC-9C31-75BD89C6355D}" destId="{265425D8-1F6C-4573-A7BD-B70D90D8C08B}" srcOrd="4" destOrd="0" presId="urn:microsoft.com/office/officeart/2018/2/layout/IconVerticalSolidList"/>
    <dgm:cxn modelId="{9C224250-B908-45EE-953A-600AF2EE9262}" type="presParOf" srcId="{265425D8-1F6C-4573-A7BD-B70D90D8C08B}" destId="{BFEFCAD8-7AD2-46D6-9092-C3A9BD26836B}" srcOrd="0" destOrd="0" presId="urn:microsoft.com/office/officeart/2018/2/layout/IconVerticalSolidList"/>
    <dgm:cxn modelId="{EA0B452D-7D29-4E3B-A205-2FAB666CE444}" type="presParOf" srcId="{265425D8-1F6C-4573-A7BD-B70D90D8C08B}" destId="{97E7953C-41CC-4D9D-A86B-4EDDC3971B9F}" srcOrd="1" destOrd="0" presId="urn:microsoft.com/office/officeart/2018/2/layout/IconVerticalSolidList"/>
    <dgm:cxn modelId="{1497F193-194E-4EC5-BD51-19C010EDD688}" type="presParOf" srcId="{265425D8-1F6C-4573-A7BD-B70D90D8C08B}" destId="{630EAB7D-A2E5-473D-9E82-66474EDB630E}" srcOrd="2" destOrd="0" presId="urn:microsoft.com/office/officeart/2018/2/layout/IconVerticalSolidList"/>
    <dgm:cxn modelId="{8F532A8F-1918-459E-B959-0A0EBE1B3192}" type="presParOf" srcId="{265425D8-1F6C-4573-A7BD-B70D90D8C08B}" destId="{DDAF8E9E-C53C-4E0D-8B19-E6E4A78A4E4B}" srcOrd="3" destOrd="0" presId="urn:microsoft.com/office/officeart/2018/2/layout/IconVerticalSolidList"/>
    <dgm:cxn modelId="{4ACE08EB-4C09-49E4-B0EF-171E01B559BE}" type="presParOf" srcId="{D6D6CA77-2614-4DDC-9C31-75BD89C6355D}" destId="{7518A952-34CB-4DAD-8169-522881C193F9}" srcOrd="5" destOrd="0" presId="urn:microsoft.com/office/officeart/2018/2/layout/IconVerticalSolidList"/>
    <dgm:cxn modelId="{8D698FE2-BF6C-4E35-85AC-5018DF326E1D}" type="presParOf" srcId="{D6D6CA77-2614-4DDC-9C31-75BD89C6355D}" destId="{197F2808-D6FF-493A-B52D-61B912B6AB1A}" srcOrd="6" destOrd="0" presId="urn:microsoft.com/office/officeart/2018/2/layout/IconVerticalSolidList"/>
    <dgm:cxn modelId="{6E8E5EAE-C58F-4969-8589-7A7BC14B7C60}" type="presParOf" srcId="{197F2808-D6FF-493A-B52D-61B912B6AB1A}" destId="{C6E6D473-A687-45A4-B1B7-67141A1E775D}" srcOrd="0" destOrd="0" presId="urn:microsoft.com/office/officeart/2018/2/layout/IconVerticalSolidList"/>
    <dgm:cxn modelId="{DC7E83AA-A802-4C49-A390-EDC19B2D0EC9}" type="presParOf" srcId="{197F2808-D6FF-493A-B52D-61B912B6AB1A}" destId="{C4CED24F-45D0-4F8D-AE4E-45B358608BF5}" srcOrd="1" destOrd="0" presId="urn:microsoft.com/office/officeart/2018/2/layout/IconVerticalSolidList"/>
    <dgm:cxn modelId="{153DFFF8-EFA3-4B47-AB55-008F7A3FB658}" type="presParOf" srcId="{197F2808-D6FF-493A-B52D-61B912B6AB1A}" destId="{CC9ED6B2-4BC6-4F95-AD4F-9B9340893178}" srcOrd="2" destOrd="0" presId="urn:microsoft.com/office/officeart/2018/2/layout/IconVerticalSolidList"/>
    <dgm:cxn modelId="{39FEC190-7C7F-40B1-9545-1D0E606A221A}" type="presParOf" srcId="{197F2808-D6FF-493A-B52D-61B912B6AB1A}" destId="{4536B502-8DB5-4237-A926-6E5A7D4A024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E8EDB0D-85EF-4CEC-88B4-9A7034AD98ED}" type="doc">
      <dgm:prSet loTypeId="urn:microsoft.com/office/officeart/2016/7/layout/VerticalHollowActionList" loCatId="List" qsTypeId="urn:microsoft.com/office/officeart/2005/8/quickstyle/simple1" qsCatId="simple" csTypeId="urn:microsoft.com/office/officeart/2005/8/colors/accent1_2" csCatId="accent1"/>
      <dgm:spPr/>
      <dgm:t>
        <a:bodyPr/>
        <a:lstStyle/>
        <a:p>
          <a:endParaRPr lang="en-US"/>
        </a:p>
      </dgm:t>
    </dgm:pt>
    <dgm:pt modelId="{B24223B9-D4DB-4425-B372-8AEFD20A563B}">
      <dgm:prSet/>
      <dgm:spPr/>
      <dgm:t>
        <a:bodyPr/>
        <a:lstStyle/>
        <a:p>
          <a:pPr rtl="0"/>
          <a:r>
            <a:rPr lang="en-US" dirty="0">
              <a:latin typeface="Arial"/>
              <a:cs typeface="Arial"/>
            </a:rPr>
            <a:t>Reduce total customer churn</a:t>
          </a:r>
        </a:p>
      </dgm:t>
    </dgm:pt>
    <dgm:pt modelId="{2F9CC9EC-FFF3-4348-9D4C-9B2B6EE9CFC7}" type="parTrans" cxnId="{CFF1CE86-AB38-43A0-8FF7-DE1967C02E26}">
      <dgm:prSet/>
      <dgm:spPr/>
      <dgm:t>
        <a:bodyPr/>
        <a:lstStyle/>
        <a:p>
          <a:endParaRPr lang="en-US"/>
        </a:p>
      </dgm:t>
    </dgm:pt>
    <dgm:pt modelId="{F1BC8931-FD44-4086-8C7C-B4EDB5AF3454}" type="sibTrans" cxnId="{CFF1CE86-AB38-43A0-8FF7-DE1967C02E26}">
      <dgm:prSet/>
      <dgm:spPr/>
      <dgm:t>
        <a:bodyPr/>
        <a:lstStyle/>
        <a:p>
          <a:endParaRPr lang="en-US"/>
        </a:p>
      </dgm:t>
    </dgm:pt>
    <dgm:pt modelId="{2E35C3BA-7D3A-4DED-B6CC-41ECEC263A6C}">
      <dgm:prSet/>
      <dgm:spPr/>
      <dgm:t>
        <a:bodyPr/>
        <a:lstStyle/>
        <a:p>
          <a:pPr rtl="0">
            <a:lnSpc>
              <a:spcPct val="100000"/>
            </a:lnSpc>
          </a:pPr>
          <a:r>
            <a:rPr lang="en-US" b="1" dirty="0">
              <a:latin typeface="Arial"/>
              <a:cs typeface="Arial"/>
            </a:rPr>
            <a:t>Achieve a 5-8% decrease in total customer churn in the next 8-12 months.</a:t>
          </a:r>
        </a:p>
      </dgm:t>
    </dgm:pt>
    <dgm:pt modelId="{6B3611F1-A510-4F7F-BED3-BDED468F6669}" type="parTrans" cxnId="{6614D329-5DD2-455D-B61F-A939A1FF706A}">
      <dgm:prSet/>
      <dgm:spPr/>
      <dgm:t>
        <a:bodyPr/>
        <a:lstStyle/>
        <a:p>
          <a:endParaRPr lang="en-US"/>
        </a:p>
      </dgm:t>
    </dgm:pt>
    <dgm:pt modelId="{13E25A81-F94A-4D8A-A58D-C0800778CAE2}" type="sibTrans" cxnId="{6614D329-5DD2-455D-B61F-A939A1FF706A}">
      <dgm:prSet/>
      <dgm:spPr/>
      <dgm:t>
        <a:bodyPr/>
        <a:lstStyle/>
        <a:p>
          <a:endParaRPr lang="en-US"/>
        </a:p>
      </dgm:t>
    </dgm:pt>
    <dgm:pt modelId="{1A61569E-CE47-42AC-80BE-5214F7947841}">
      <dgm:prSet/>
      <dgm:spPr/>
      <dgm:t>
        <a:bodyPr/>
        <a:lstStyle/>
        <a:p>
          <a:pPr rtl="0"/>
          <a:r>
            <a:rPr lang="en-US" dirty="0">
              <a:latin typeface="Arial"/>
              <a:cs typeface="Arial"/>
            </a:rPr>
            <a:t>Small companies and monthly users feel heard</a:t>
          </a:r>
        </a:p>
      </dgm:t>
    </dgm:pt>
    <dgm:pt modelId="{4BD2EC07-A47F-4C37-94F2-6EAF28B171B1}" type="parTrans" cxnId="{72702788-CE92-4732-91B9-9C69CC4E744D}">
      <dgm:prSet/>
      <dgm:spPr/>
      <dgm:t>
        <a:bodyPr/>
        <a:lstStyle/>
        <a:p>
          <a:endParaRPr lang="en-US"/>
        </a:p>
      </dgm:t>
    </dgm:pt>
    <dgm:pt modelId="{D2AD912A-D7FF-430D-BBCA-20439C6D388F}" type="sibTrans" cxnId="{72702788-CE92-4732-91B9-9C69CC4E744D}">
      <dgm:prSet/>
      <dgm:spPr/>
      <dgm:t>
        <a:bodyPr/>
        <a:lstStyle/>
        <a:p>
          <a:endParaRPr lang="en-US"/>
        </a:p>
      </dgm:t>
    </dgm:pt>
    <dgm:pt modelId="{A15DF9D9-54A1-4C27-96E6-AD5D45A372B8}">
      <dgm:prSet/>
      <dgm:spPr/>
      <dgm:t>
        <a:bodyPr/>
        <a:lstStyle/>
        <a:p>
          <a:pPr>
            <a:lnSpc>
              <a:spcPct val="100000"/>
            </a:lnSpc>
          </a:pPr>
          <a:r>
            <a:rPr lang="en-US" b="1" dirty="0">
              <a:latin typeface="Arial"/>
              <a:cs typeface="Arial"/>
            </a:rPr>
            <a:t>Increase average CSAT score by 15-20%  across smaller companies and monthly users in the next 12 months.</a:t>
          </a:r>
        </a:p>
      </dgm:t>
    </dgm:pt>
    <dgm:pt modelId="{1393CE4B-7670-4882-97A8-4C6DD8B4C507}" type="parTrans" cxnId="{2AACC005-2081-48CF-9C32-A2F9F3E18FAA}">
      <dgm:prSet/>
      <dgm:spPr/>
      <dgm:t>
        <a:bodyPr/>
        <a:lstStyle/>
        <a:p>
          <a:endParaRPr lang="en-US"/>
        </a:p>
      </dgm:t>
    </dgm:pt>
    <dgm:pt modelId="{66C832EF-3504-4768-86E3-FFD4CC8DA98C}" type="sibTrans" cxnId="{2AACC005-2081-48CF-9C32-A2F9F3E18FAA}">
      <dgm:prSet/>
      <dgm:spPr/>
      <dgm:t>
        <a:bodyPr/>
        <a:lstStyle/>
        <a:p>
          <a:endParaRPr lang="en-US"/>
        </a:p>
      </dgm:t>
    </dgm:pt>
    <dgm:pt modelId="{D8D041E0-A1A1-4D42-B49B-035B8BF27C30}">
      <dgm:prSet phldr="0"/>
      <dgm:spPr/>
      <dgm:t>
        <a:bodyPr/>
        <a:lstStyle/>
        <a:p>
          <a:pPr rtl="0"/>
          <a:r>
            <a:rPr lang="en-US" dirty="0">
              <a:latin typeface="Arial"/>
              <a:cs typeface="Arial"/>
            </a:rPr>
            <a:t>Streamline onboarding process</a:t>
          </a:r>
        </a:p>
      </dgm:t>
    </dgm:pt>
    <dgm:pt modelId="{F1B04B6B-252E-482B-80C2-9A536B202414}" type="parTrans" cxnId="{10539A0A-04CC-4DDF-BCD9-EDDA0B8AB4E0}">
      <dgm:prSet/>
      <dgm:spPr/>
      <dgm:t>
        <a:bodyPr/>
        <a:lstStyle/>
        <a:p>
          <a:endParaRPr lang="en-US"/>
        </a:p>
      </dgm:t>
    </dgm:pt>
    <dgm:pt modelId="{41BD5C62-3028-4A96-9FE6-DDE8BD0ED528}" type="sibTrans" cxnId="{10539A0A-04CC-4DDF-BCD9-EDDA0B8AB4E0}">
      <dgm:prSet/>
      <dgm:spPr/>
      <dgm:t>
        <a:bodyPr/>
        <a:lstStyle/>
        <a:p>
          <a:endParaRPr lang="en-US"/>
        </a:p>
      </dgm:t>
    </dgm:pt>
    <dgm:pt modelId="{E5104178-2ACB-4FFC-90DA-5E8318C5F66C}">
      <dgm:prSet/>
      <dgm:spPr/>
      <dgm:t>
        <a:bodyPr/>
        <a:lstStyle/>
        <a:p>
          <a:pPr>
            <a:lnSpc>
              <a:spcPct val="100000"/>
            </a:lnSpc>
          </a:pPr>
          <a:r>
            <a:rPr lang="en-US" b="1" dirty="0">
              <a:latin typeface="Arial"/>
              <a:cs typeface="Arial"/>
            </a:rPr>
            <a:t>Increase OSS among new clients by establishing feedback loops especially during and after onboarding process.</a:t>
          </a:r>
        </a:p>
      </dgm:t>
    </dgm:pt>
    <dgm:pt modelId="{8572A502-249A-4AD1-802A-75F08A636FBE}" type="parTrans" cxnId="{7DBCD3D9-D5E3-40D2-80D4-5CA29BC6AE83}">
      <dgm:prSet/>
      <dgm:spPr/>
      <dgm:t>
        <a:bodyPr/>
        <a:lstStyle/>
        <a:p>
          <a:endParaRPr lang="en-US"/>
        </a:p>
      </dgm:t>
    </dgm:pt>
    <dgm:pt modelId="{0F1E697D-75FD-48CB-ADF1-2B49EEE9F8C7}" type="sibTrans" cxnId="{7DBCD3D9-D5E3-40D2-80D4-5CA29BC6AE83}">
      <dgm:prSet/>
      <dgm:spPr/>
      <dgm:t>
        <a:bodyPr/>
        <a:lstStyle/>
        <a:p>
          <a:endParaRPr lang="en-US"/>
        </a:p>
      </dgm:t>
    </dgm:pt>
    <dgm:pt modelId="{91A76988-206B-4BFF-ADDE-780330C3BBF0}">
      <dgm:prSet phldr="0"/>
      <dgm:spPr/>
      <dgm:t>
        <a:bodyPr/>
        <a:lstStyle/>
        <a:p>
          <a:pPr rtl="0"/>
          <a:r>
            <a:rPr lang="en-US" dirty="0">
              <a:latin typeface="Arial"/>
              <a:cs typeface="Arial"/>
            </a:rPr>
            <a:t>Successfully addressing current cons</a:t>
          </a:r>
        </a:p>
      </dgm:t>
    </dgm:pt>
    <dgm:pt modelId="{50B5352E-44C1-498D-B240-6577151CC1BB}" type="parTrans" cxnId="{581F0528-018B-43B4-BCCA-B80EE30688BD}">
      <dgm:prSet/>
      <dgm:spPr/>
      <dgm:t>
        <a:bodyPr/>
        <a:lstStyle/>
        <a:p>
          <a:endParaRPr lang="en-US"/>
        </a:p>
      </dgm:t>
    </dgm:pt>
    <dgm:pt modelId="{5C954974-53A5-4589-8836-2E2FDE61BBDE}" type="sibTrans" cxnId="{581F0528-018B-43B4-BCCA-B80EE30688BD}">
      <dgm:prSet/>
      <dgm:spPr/>
      <dgm:t>
        <a:bodyPr/>
        <a:lstStyle/>
        <a:p>
          <a:endParaRPr lang="en-US"/>
        </a:p>
      </dgm:t>
    </dgm:pt>
    <dgm:pt modelId="{805FFBA8-9E2B-4DFD-9FA2-7A86D2771B40}">
      <dgm:prSet/>
      <dgm:spPr/>
      <dgm:t>
        <a:bodyPr/>
        <a:lstStyle/>
        <a:p>
          <a:pPr>
            <a:lnSpc>
              <a:spcPct val="100000"/>
            </a:lnSpc>
          </a:pPr>
          <a:r>
            <a:rPr lang="en-US" b="1" dirty="0">
              <a:latin typeface="Arial"/>
              <a:cs typeface="Arial"/>
            </a:rPr>
            <a:t>Reduce average no. of customer support tickets to address current cons as cited by clients.</a:t>
          </a:r>
        </a:p>
      </dgm:t>
    </dgm:pt>
    <dgm:pt modelId="{60E9A6AC-EDAD-4DBE-A352-3D7A87BEC9D6}" type="parTrans" cxnId="{891214B5-0F72-488D-AF3E-13C6C6920058}">
      <dgm:prSet/>
      <dgm:spPr/>
      <dgm:t>
        <a:bodyPr/>
        <a:lstStyle/>
        <a:p>
          <a:endParaRPr lang="en-US"/>
        </a:p>
      </dgm:t>
    </dgm:pt>
    <dgm:pt modelId="{7B9741CC-AA2D-43DE-87DB-ABD65883F55A}" type="sibTrans" cxnId="{891214B5-0F72-488D-AF3E-13C6C6920058}">
      <dgm:prSet/>
      <dgm:spPr/>
      <dgm:t>
        <a:bodyPr/>
        <a:lstStyle/>
        <a:p>
          <a:endParaRPr lang="en-US"/>
        </a:p>
      </dgm:t>
    </dgm:pt>
    <dgm:pt modelId="{9C90C1B0-D5D8-42A9-BA8F-4A4B1EA60712}" type="pres">
      <dgm:prSet presAssocID="{BE8EDB0D-85EF-4CEC-88B4-9A7034AD98ED}" presName="Name0" presStyleCnt="0">
        <dgm:presLayoutVars>
          <dgm:dir/>
          <dgm:animLvl val="lvl"/>
          <dgm:resizeHandles val="exact"/>
        </dgm:presLayoutVars>
      </dgm:prSet>
      <dgm:spPr/>
    </dgm:pt>
    <dgm:pt modelId="{137C63BC-EF61-4B33-B8C4-CD54ECDBE740}" type="pres">
      <dgm:prSet presAssocID="{B24223B9-D4DB-4425-B372-8AEFD20A563B}" presName="linNode" presStyleCnt="0"/>
      <dgm:spPr/>
    </dgm:pt>
    <dgm:pt modelId="{2491D899-F38E-4637-9D97-38740847C87E}" type="pres">
      <dgm:prSet presAssocID="{B24223B9-D4DB-4425-B372-8AEFD20A563B}" presName="parentText" presStyleLbl="solidFgAcc1" presStyleIdx="0" presStyleCnt="4">
        <dgm:presLayoutVars>
          <dgm:chMax val="1"/>
          <dgm:bulletEnabled/>
        </dgm:presLayoutVars>
      </dgm:prSet>
      <dgm:spPr/>
    </dgm:pt>
    <dgm:pt modelId="{1185B00D-13AB-42B3-AF95-7F37480B431D}" type="pres">
      <dgm:prSet presAssocID="{B24223B9-D4DB-4425-B372-8AEFD20A563B}" presName="descendantText" presStyleLbl="alignNode1" presStyleIdx="0" presStyleCnt="4">
        <dgm:presLayoutVars>
          <dgm:bulletEnabled/>
        </dgm:presLayoutVars>
      </dgm:prSet>
      <dgm:spPr/>
    </dgm:pt>
    <dgm:pt modelId="{5E24C540-FE99-4ABA-8E79-3B273714F1EC}" type="pres">
      <dgm:prSet presAssocID="{F1BC8931-FD44-4086-8C7C-B4EDB5AF3454}" presName="sp" presStyleCnt="0"/>
      <dgm:spPr/>
    </dgm:pt>
    <dgm:pt modelId="{F62BAFF3-8ECF-469C-9BE0-C5C68616F725}" type="pres">
      <dgm:prSet presAssocID="{1A61569E-CE47-42AC-80BE-5214F7947841}" presName="linNode" presStyleCnt="0"/>
      <dgm:spPr/>
    </dgm:pt>
    <dgm:pt modelId="{BD68EC4E-36ED-4264-A47C-05A4E14B25FE}" type="pres">
      <dgm:prSet presAssocID="{1A61569E-CE47-42AC-80BE-5214F7947841}" presName="parentText" presStyleLbl="solidFgAcc1" presStyleIdx="1" presStyleCnt="4">
        <dgm:presLayoutVars>
          <dgm:chMax val="1"/>
          <dgm:bulletEnabled/>
        </dgm:presLayoutVars>
      </dgm:prSet>
      <dgm:spPr/>
    </dgm:pt>
    <dgm:pt modelId="{DF0D8AAE-8FFB-46E5-851A-1BB2733BF79D}" type="pres">
      <dgm:prSet presAssocID="{1A61569E-CE47-42AC-80BE-5214F7947841}" presName="descendantText" presStyleLbl="alignNode1" presStyleIdx="1" presStyleCnt="4">
        <dgm:presLayoutVars>
          <dgm:bulletEnabled/>
        </dgm:presLayoutVars>
      </dgm:prSet>
      <dgm:spPr/>
    </dgm:pt>
    <dgm:pt modelId="{C7B49760-A89B-49BB-B1FB-3673447A65EA}" type="pres">
      <dgm:prSet presAssocID="{D2AD912A-D7FF-430D-BBCA-20439C6D388F}" presName="sp" presStyleCnt="0"/>
      <dgm:spPr/>
    </dgm:pt>
    <dgm:pt modelId="{E5FE0AAD-F2E3-4D62-81D7-F98AA9E92ABF}" type="pres">
      <dgm:prSet presAssocID="{D8D041E0-A1A1-4D42-B49B-035B8BF27C30}" presName="linNode" presStyleCnt="0"/>
      <dgm:spPr/>
    </dgm:pt>
    <dgm:pt modelId="{775DD910-9013-4819-A15B-4A4044A419A9}" type="pres">
      <dgm:prSet presAssocID="{D8D041E0-A1A1-4D42-B49B-035B8BF27C30}" presName="parentText" presStyleLbl="solidFgAcc1" presStyleIdx="2" presStyleCnt="4">
        <dgm:presLayoutVars>
          <dgm:chMax val="1"/>
          <dgm:bulletEnabled/>
        </dgm:presLayoutVars>
      </dgm:prSet>
      <dgm:spPr/>
    </dgm:pt>
    <dgm:pt modelId="{70A17722-4E95-4F58-93DB-9AFB49D28730}" type="pres">
      <dgm:prSet presAssocID="{D8D041E0-A1A1-4D42-B49B-035B8BF27C30}" presName="descendantText" presStyleLbl="alignNode1" presStyleIdx="2" presStyleCnt="4">
        <dgm:presLayoutVars>
          <dgm:bulletEnabled/>
        </dgm:presLayoutVars>
      </dgm:prSet>
      <dgm:spPr/>
    </dgm:pt>
    <dgm:pt modelId="{41353135-51B4-4026-A093-BF2AF68673BE}" type="pres">
      <dgm:prSet presAssocID="{41BD5C62-3028-4A96-9FE6-DDE8BD0ED528}" presName="sp" presStyleCnt="0"/>
      <dgm:spPr/>
    </dgm:pt>
    <dgm:pt modelId="{9165A2FA-65E6-4CCE-976D-3B18FB8514EF}" type="pres">
      <dgm:prSet presAssocID="{91A76988-206B-4BFF-ADDE-780330C3BBF0}" presName="linNode" presStyleCnt="0"/>
      <dgm:spPr/>
    </dgm:pt>
    <dgm:pt modelId="{811B6CE2-7F04-4540-9F4F-15A9941C72F5}" type="pres">
      <dgm:prSet presAssocID="{91A76988-206B-4BFF-ADDE-780330C3BBF0}" presName="parentText" presStyleLbl="solidFgAcc1" presStyleIdx="3" presStyleCnt="4">
        <dgm:presLayoutVars>
          <dgm:chMax val="1"/>
          <dgm:bulletEnabled/>
        </dgm:presLayoutVars>
      </dgm:prSet>
      <dgm:spPr/>
    </dgm:pt>
    <dgm:pt modelId="{82157F5E-35CF-472C-8B46-A74BA50DA2C3}" type="pres">
      <dgm:prSet presAssocID="{91A76988-206B-4BFF-ADDE-780330C3BBF0}" presName="descendantText" presStyleLbl="alignNode1" presStyleIdx="3" presStyleCnt="4">
        <dgm:presLayoutVars>
          <dgm:bulletEnabled/>
        </dgm:presLayoutVars>
      </dgm:prSet>
      <dgm:spPr/>
    </dgm:pt>
  </dgm:ptLst>
  <dgm:cxnLst>
    <dgm:cxn modelId="{2AACC005-2081-48CF-9C32-A2F9F3E18FAA}" srcId="{1A61569E-CE47-42AC-80BE-5214F7947841}" destId="{A15DF9D9-54A1-4C27-96E6-AD5D45A372B8}" srcOrd="0" destOrd="0" parTransId="{1393CE4B-7670-4882-97A8-4C6DD8B4C507}" sibTransId="{66C832EF-3504-4768-86E3-FFD4CC8DA98C}"/>
    <dgm:cxn modelId="{8645C009-E786-4694-828C-DBF7358A257E}" type="presOf" srcId="{2E35C3BA-7D3A-4DED-B6CC-41ECEC263A6C}" destId="{1185B00D-13AB-42B3-AF95-7F37480B431D}" srcOrd="0" destOrd="0" presId="urn:microsoft.com/office/officeart/2016/7/layout/VerticalHollowActionList"/>
    <dgm:cxn modelId="{10539A0A-04CC-4DDF-BCD9-EDDA0B8AB4E0}" srcId="{BE8EDB0D-85EF-4CEC-88B4-9A7034AD98ED}" destId="{D8D041E0-A1A1-4D42-B49B-035B8BF27C30}" srcOrd="2" destOrd="0" parTransId="{F1B04B6B-252E-482B-80C2-9A536B202414}" sibTransId="{41BD5C62-3028-4A96-9FE6-DDE8BD0ED528}"/>
    <dgm:cxn modelId="{99ABE91A-349A-4B9D-B128-259D9FFD0DDA}" type="presOf" srcId="{1A61569E-CE47-42AC-80BE-5214F7947841}" destId="{BD68EC4E-36ED-4264-A47C-05A4E14B25FE}" srcOrd="0" destOrd="0" presId="urn:microsoft.com/office/officeart/2016/7/layout/VerticalHollowActionList"/>
    <dgm:cxn modelId="{581F0528-018B-43B4-BCCA-B80EE30688BD}" srcId="{BE8EDB0D-85EF-4CEC-88B4-9A7034AD98ED}" destId="{91A76988-206B-4BFF-ADDE-780330C3BBF0}" srcOrd="3" destOrd="0" parTransId="{50B5352E-44C1-498D-B240-6577151CC1BB}" sibTransId="{5C954974-53A5-4589-8836-2E2FDE61BBDE}"/>
    <dgm:cxn modelId="{6614D329-5DD2-455D-B61F-A939A1FF706A}" srcId="{B24223B9-D4DB-4425-B372-8AEFD20A563B}" destId="{2E35C3BA-7D3A-4DED-B6CC-41ECEC263A6C}" srcOrd="0" destOrd="0" parTransId="{6B3611F1-A510-4F7F-BED3-BDED468F6669}" sibTransId="{13E25A81-F94A-4D8A-A58D-C0800778CAE2}"/>
    <dgm:cxn modelId="{D0BE613C-4726-4438-9B2D-4302831936A5}" type="presOf" srcId="{E5104178-2ACB-4FFC-90DA-5E8318C5F66C}" destId="{70A17722-4E95-4F58-93DB-9AFB49D28730}" srcOrd="0" destOrd="0" presId="urn:microsoft.com/office/officeart/2016/7/layout/VerticalHollowActionList"/>
    <dgm:cxn modelId="{CFF1CE86-AB38-43A0-8FF7-DE1967C02E26}" srcId="{BE8EDB0D-85EF-4CEC-88B4-9A7034AD98ED}" destId="{B24223B9-D4DB-4425-B372-8AEFD20A563B}" srcOrd="0" destOrd="0" parTransId="{2F9CC9EC-FFF3-4348-9D4C-9B2B6EE9CFC7}" sibTransId="{F1BC8931-FD44-4086-8C7C-B4EDB5AF3454}"/>
    <dgm:cxn modelId="{72702788-CE92-4732-91B9-9C69CC4E744D}" srcId="{BE8EDB0D-85EF-4CEC-88B4-9A7034AD98ED}" destId="{1A61569E-CE47-42AC-80BE-5214F7947841}" srcOrd="1" destOrd="0" parTransId="{4BD2EC07-A47F-4C37-94F2-6EAF28B171B1}" sibTransId="{D2AD912A-D7FF-430D-BBCA-20439C6D388F}"/>
    <dgm:cxn modelId="{4F8315A1-C9FC-487E-AC60-9C9C85420501}" type="presOf" srcId="{BE8EDB0D-85EF-4CEC-88B4-9A7034AD98ED}" destId="{9C90C1B0-D5D8-42A9-BA8F-4A4B1EA60712}" srcOrd="0" destOrd="0" presId="urn:microsoft.com/office/officeart/2016/7/layout/VerticalHollowActionList"/>
    <dgm:cxn modelId="{770BC7A8-CA27-4869-8F76-73C0FA6B4F4A}" type="presOf" srcId="{B24223B9-D4DB-4425-B372-8AEFD20A563B}" destId="{2491D899-F38E-4637-9D97-38740847C87E}" srcOrd="0" destOrd="0" presId="urn:microsoft.com/office/officeart/2016/7/layout/VerticalHollowActionList"/>
    <dgm:cxn modelId="{26E33CAC-4E65-4C9D-B2D5-803AD3395457}" type="presOf" srcId="{D8D041E0-A1A1-4D42-B49B-035B8BF27C30}" destId="{775DD910-9013-4819-A15B-4A4044A419A9}" srcOrd="0" destOrd="0" presId="urn:microsoft.com/office/officeart/2016/7/layout/VerticalHollowActionList"/>
    <dgm:cxn modelId="{891214B5-0F72-488D-AF3E-13C6C6920058}" srcId="{91A76988-206B-4BFF-ADDE-780330C3BBF0}" destId="{805FFBA8-9E2B-4DFD-9FA2-7A86D2771B40}" srcOrd="0" destOrd="0" parTransId="{60E9A6AC-EDAD-4DBE-A352-3D7A87BEC9D6}" sibTransId="{7B9741CC-AA2D-43DE-87DB-ABD65883F55A}"/>
    <dgm:cxn modelId="{D23F30C9-AD91-49F4-8C88-DF0AC16D3C28}" type="presOf" srcId="{A15DF9D9-54A1-4C27-96E6-AD5D45A372B8}" destId="{DF0D8AAE-8FFB-46E5-851A-1BB2733BF79D}" srcOrd="0" destOrd="0" presId="urn:microsoft.com/office/officeart/2016/7/layout/VerticalHollowActionList"/>
    <dgm:cxn modelId="{7DBCD3D9-D5E3-40D2-80D4-5CA29BC6AE83}" srcId="{D8D041E0-A1A1-4D42-B49B-035B8BF27C30}" destId="{E5104178-2ACB-4FFC-90DA-5E8318C5F66C}" srcOrd="0" destOrd="0" parTransId="{8572A502-249A-4AD1-802A-75F08A636FBE}" sibTransId="{0F1E697D-75FD-48CB-ADF1-2B49EEE9F8C7}"/>
    <dgm:cxn modelId="{FE4438E0-B29A-4DD7-B1E8-BCB41266ADBA}" type="presOf" srcId="{91A76988-206B-4BFF-ADDE-780330C3BBF0}" destId="{811B6CE2-7F04-4540-9F4F-15A9941C72F5}" srcOrd="0" destOrd="0" presId="urn:microsoft.com/office/officeart/2016/7/layout/VerticalHollowActionList"/>
    <dgm:cxn modelId="{0216DAE9-8BD1-49C4-A949-EA8EC76FC74F}" type="presOf" srcId="{805FFBA8-9E2B-4DFD-9FA2-7A86D2771B40}" destId="{82157F5E-35CF-472C-8B46-A74BA50DA2C3}" srcOrd="0" destOrd="0" presId="urn:microsoft.com/office/officeart/2016/7/layout/VerticalHollowActionList"/>
    <dgm:cxn modelId="{E43F7EC5-61D8-4F45-9A92-C5836DDF14E8}" type="presParOf" srcId="{9C90C1B0-D5D8-42A9-BA8F-4A4B1EA60712}" destId="{137C63BC-EF61-4B33-B8C4-CD54ECDBE740}" srcOrd="0" destOrd="0" presId="urn:microsoft.com/office/officeart/2016/7/layout/VerticalHollowActionList"/>
    <dgm:cxn modelId="{6529C306-12A7-4A4D-B27C-5B592D9D9D8F}" type="presParOf" srcId="{137C63BC-EF61-4B33-B8C4-CD54ECDBE740}" destId="{2491D899-F38E-4637-9D97-38740847C87E}" srcOrd="0" destOrd="0" presId="urn:microsoft.com/office/officeart/2016/7/layout/VerticalHollowActionList"/>
    <dgm:cxn modelId="{BE0AAC14-8F87-413B-8C58-1FC390BAF64E}" type="presParOf" srcId="{137C63BC-EF61-4B33-B8C4-CD54ECDBE740}" destId="{1185B00D-13AB-42B3-AF95-7F37480B431D}" srcOrd="1" destOrd="0" presId="urn:microsoft.com/office/officeart/2016/7/layout/VerticalHollowActionList"/>
    <dgm:cxn modelId="{87FB381D-9871-41E8-8DDD-0B5D955801F8}" type="presParOf" srcId="{9C90C1B0-D5D8-42A9-BA8F-4A4B1EA60712}" destId="{5E24C540-FE99-4ABA-8E79-3B273714F1EC}" srcOrd="1" destOrd="0" presId="urn:microsoft.com/office/officeart/2016/7/layout/VerticalHollowActionList"/>
    <dgm:cxn modelId="{CF575540-029B-4ACF-841A-C13669BB6704}" type="presParOf" srcId="{9C90C1B0-D5D8-42A9-BA8F-4A4B1EA60712}" destId="{F62BAFF3-8ECF-469C-9BE0-C5C68616F725}" srcOrd="2" destOrd="0" presId="urn:microsoft.com/office/officeart/2016/7/layout/VerticalHollowActionList"/>
    <dgm:cxn modelId="{84FD0D55-C838-43DC-B5FB-0E1DE5695E09}" type="presParOf" srcId="{F62BAFF3-8ECF-469C-9BE0-C5C68616F725}" destId="{BD68EC4E-36ED-4264-A47C-05A4E14B25FE}" srcOrd="0" destOrd="0" presId="urn:microsoft.com/office/officeart/2016/7/layout/VerticalHollowActionList"/>
    <dgm:cxn modelId="{4FB88EDD-E465-4F61-ACA1-342B33EBE415}" type="presParOf" srcId="{F62BAFF3-8ECF-469C-9BE0-C5C68616F725}" destId="{DF0D8AAE-8FFB-46E5-851A-1BB2733BF79D}" srcOrd="1" destOrd="0" presId="urn:microsoft.com/office/officeart/2016/7/layout/VerticalHollowActionList"/>
    <dgm:cxn modelId="{8E21FBFC-689C-4CF4-A8BB-B43DBED03D16}" type="presParOf" srcId="{9C90C1B0-D5D8-42A9-BA8F-4A4B1EA60712}" destId="{C7B49760-A89B-49BB-B1FB-3673447A65EA}" srcOrd="3" destOrd="0" presId="urn:microsoft.com/office/officeart/2016/7/layout/VerticalHollowActionList"/>
    <dgm:cxn modelId="{E0FF6735-3ABF-43C7-A13D-647E4B7E8F84}" type="presParOf" srcId="{9C90C1B0-D5D8-42A9-BA8F-4A4B1EA60712}" destId="{E5FE0AAD-F2E3-4D62-81D7-F98AA9E92ABF}" srcOrd="4" destOrd="0" presId="urn:microsoft.com/office/officeart/2016/7/layout/VerticalHollowActionList"/>
    <dgm:cxn modelId="{85F1702D-639D-4904-A692-F9C60616B4E1}" type="presParOf" srcId="{E5FE0AAD-F2E3-4D62-81D7-F98AA9E92ABF}" destId="{775DD910-9013-4819-A15B-4A4044A419A9}" srcOrd="0" destOrd="0" presId="urn:microsoft.com/office/officeart/2016/7/layout/VerticalHollowActionList"/>
    <dgm:cxn modelId="{E1BDECDE-4069-40A9-9E42-B5BD53DE5527}" type="presParOf" srcId="{E5FE0AAD-F2E3-4D62-81D7-F98AA9E92ABF}" destId="{70A17722-4E95-4F58-93DB-9AFB49D28730}" srcOrd="1" destOrd="0" presId="urn:microsoft.com/office/officeart/2016/7/layout/VerticalHollowActionList"/>
    <dgm:cxn modelId="{AF8D5032-6271-4996-BB99-10937439D469}" type="presParOf" srcId="{9C90C1B0-D5D8-42A9-BA8F-4A4B1EA60712}" destId="{41353135-51B4-4026-A093-BF2AF68673BE}" srcOrd="5" destOrd="0" presId="urn:microsoft.com/office/officeart/2016/7/layout/VerticalHollowActionList"/>
    <dgm:cxn modelId="{F8FC847D-2C24-4697-8684-ED4322C3BFCA}" type="presParOf" srcId="{9C90C1B0-D5D8-42A9-BA8F-4A4B1EA60712}" destId="{9165A2FA-65E6-4CCE-976D-3B18FB8514EF}" srcOrd="6" destOrd="0" presId="urn:microsoft.com/office/officeart/2016/7/layout/VerticalHollowActionList"/>
    <dgm:cxn modelId="{F830746C-26FC-479C-86D4-4E8974A636A4}" type="presParOf" srcId="{9165A2FA-65E6-4CCE-976D-3B18FB8514EF}" destId="{811B6CE2-7F04-4540-9F4F-15A9941C72F5}" srcOrd="0" destOrd="0" presId="urn:microsoft.com/office/officeart/2016/7/layout/VerticalHollowActionList"/>
    <dgm:cxn modelId="{38E70844-20CA-4BC6-9457-E4F57685F01F}" type="presParOf" srcId="{9165A2FA-65E6-4CCE-976D-3B18FB8514EF}" destId="{82157F5E-35CF-472C-8B46-A74BA50DA2C3}"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2938B8-19C0-4C78-8E45-A722A943B2DB}">
      <dsp:nvSpPr>
        <dsp:cNvPr id="0" name=""/>
        <dsp:cNvSpPr/>
      </dsp:nvSpPr>
      <dsp:spPr>
        <a:xfrm>
          <a:off x="0" y="513306"/>
          <a:ext cx="6797675" cy="2633399"/>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7575" tIns="458216" rIns="527575" bIns="156464" numCol="1" spcCol="1270" anchor="t" anchorCtr="0">
          <a:noAutofit/>
        </a:bodyPr>
        <a:lstStyle/>
        <a:p>
          <a:pPr marL="228600" lvl="1" indent="-228600" algn="l" defTabSz="977900">
            <a:lnSpc>
              <a:spcPct val="100000"/>
            </a:lnSpc>
            <a:spcBef>
              <a:spcPct val="0"/>
            </a:spcBef>
            <a:spcAft>
              <a:spcPct val="15000"/>
            </a:spcAft>
            <a:buChar char="•"/>
          </a:pPr>
          <a:r>
            <a:rPr lang="en-US" sz="2200" b="1" kern="1200" dirty="0">
              <a:latin typeface="Arial"/>
              <a:cs typeface="Arial"/>
            </a:rPr>
            <a:t>Rising Subscription Cancellations</a:t>
          </a:r>
          <a:r>
            <a:rPr lang="en-US" sz="2200" kern="1200" dirty="0">
              <a:latin typeface="Arial"/>
              <a:cs typeface="Arial"/>
            </a:rPr>
            <a:t>: Churn rate has reached 20% over the past year.</a:t>
          </a:r>
        </a:p>
        <a:p>
          <a:pPr marL="228600" lvl="1" indent="-228600" algn="l" defTabSz="977900">
            <a:lnSpc>
              <a:spcPct val="100000"/>
            </a:lnSpc>
            <a:spcBef>
              <a:spcPct val="0"/>
            </a:spcBef>
            <a:spcAft>
              <a:spcPct val="15000"/>
            </a:spcAft>
            <a:buChar char="•"/>
          </a:pPr>
          <a:endParaRPr lang="en-US" sz="2200" b="0" kern="1200" dirty="0">
            <a:latin typeface="Calibri Light" panose="020F0302020204030204"/>
          </a:endParaRPr>
        </a:p>
        <a:p>
          <a:pPr marL="228600" lvl="1" indent="-228600" algn="l" defTabSz="977900">
            <a:lnSpc>
              <a:spcPct val="100000"/>
            </a:lnSpc>
            <a:spcBef>
              <a:spcPct val="0"/>
            </a:spcBef>
            <a:spcAft>
              <a:spcPct val="15000"/>
            </a:spcAft>
            <a:buChar char="•"/>
          </a:pPr>
          <a:r>
            <a:rPr lang="en-US" sz="2200" b="1" kern="1200" dirty="0">
              <a:latin typeface="Arial"/>
              <a:cs typeface="Arial"/>
            </a:rPr>
            <a:t>Customer Feedback</a:t>
          </a:r>
          <a:r>
            <a:rPr lang="en-US" sz="2200" kern="1200" dirty="0">
              <a:latin typeface="Arial"/>
              <a:cs typeface="Arial"/>
            </a:rPr>
            <a:t>: Customers report disengagement and a perceived lack of value in their subscription.</a:t>
          </a:r>
        </a:p>
      </dsp:txBody>
      <dsp:txXfrm>
        <a:off x="0" y="513306"/>
        <a:ext cx="6797675" cy="2633399"/>
      </dsp:txXfrm>
    </dsp:sp>
    <dsp:sp modelId="{FBA2BBE6-54EE-4DF8-89A3-9643EF39F37F}">
      <dsp:nvSpPr>
        <dsp:cNvPr id="0" name=""/>
        <dsp:cNvSpPr/>
      </dsp:nvSpPr>
      <dsp:spPr>
        <a:xfrm>
          <a:off x="339883" y="188586"/>
          <a:ext cx="4758372"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977900">
            <a:lnSpc>
              <a:spcPct val="90000"/>
            </a:lnSpc>
            <a:spcBef>
              <a:spcPct val="0"/>
            </a:spcBef>
            <a:spcAft>
              <a:spcPct val="35000"/>
            </a:spcAft>
            <a:buNone/>
          </a:pPr>
          <a:r>
            <a:rPr lang="en-US" sz="2200" b="1" kern="1200" dirty="0">
              <a:latin typeface="Arial"/>
              <a:cs typeface="Arial"/>
            </a:rPr>
            <a:t>Current Retention Challenges</a:t>
          </a:r>
        </a:p>
      </dsp:txBody>
      <dsp:txXfrm>
        <a:off x="371586" y="220289"/>
        <a:ext cx="4694966" cy="586034"/>
      </dsp:txXfrm>
    </dsp:sp>
    <dsp:sp modelId="{6ABAF597-08D0-4CFE-9B01-963422BF4104}">
      <dsp:nvSpPr>
        <dsp:cNvPr id="0" name=""/>
        <dsp:cNvSpPr/>
      </dsp:nvSpPr>
      <dsp:spPr>
        <a:xfrm>
          <a:off x="0" y="3590226"/>
          <a:ext cx="6797675" cy="18711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27575" tIns="458216" rIns="527575" bIns="156464" numCol="1" spcCol="1270" anchor="t" anchorCtr="0">
          <a:noAutofit/>
        </a:bodyPr>
        <a:lstStyle/>
        <a:p>
          <a:pPr marL="228600" lvl="1" indent="-228600" algn="l" defTabSz="977900">
            <a:lnSpc>
              <a:spcPct val="100000"/>
            </a:lnSpc>
            <a:spcBef>
              <a:spcPct val="0"/>
            </a:spcBef>
            <a:spcAft>
              <a:spcPct val="15000"/>
            </a:spcAft>
            <a:buChar char="•"/>
          </a:pPr>
          <a:r>
            <a:rPr lang="en-US" sz="2200" b="1" kern="1200" dirty="0">
              <a:latin typeface="Arial"/>
              <a:cs typeface="Arial"/>
            </a:rPr>
            <a:t>Revenue and Growth</a:t>
          </a:r>
          <a:r>
            <a:rPr lang="en-US" sz="2200" kern="1200" dirty="0">
              <a:latin typeface="Arial"/>
              <a:cs typeface="Arial"/>
            </a:rPr>
            <a:t>: High churn affects revenue and growth, while disengaged customers lead to negative word-of-mouth and reduced acquisition efficiency.</a:t>
          </a:r>
        </a:p>
      </dsp:txBody>
      <dsp:txXfrm>
        <a:off x="0" y="3590226"/>
        <a:ext cx="6797675" cy="1871100"/>
      </dsp:txXfrm>
    </dsp:sp>
    <dsp:sp modelId="{1A29451C-1261-4000-BEC0-8C92D37E8CFE}">
      <dsp:nvSpPr>
        <dsp:cNvPr id="0" name=""/>
        <dsp:cNvSpPr/>
      </dsp:nvSpPr>
      <dsp:spPr>
        <a:xfrm>
          <a:off x="339883" y="3265505"/>
          <a:ext cx="4758372" cy="64944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855" tIns="0" rIns="179855" bIns="0" numCol="1" spcCol="1270" anchor="ctr" anchorCtr="0">
          <a:noAutofit/>
        </a:bodyPr>
        <a:lstStyle/>
        <a:p>
          <a:pPr marL="0" lvl="0" indent="0" algn="l" defTabSz="977900">
            <a:lnSpc>
              <a:spcPct val="90000"/>
            </a:lnSpc>
            <a:spcBef>
              <a:spcPct val="0"/>
            </a:spcBef>
            <a:spcAft>
              <a:spcPct val="35000"/>
            </a:spcAft>
            <a:buNone/>
          </a:pPr>
          <a:r>
            <a:rPr lang="en-US" sz="2200" b="1" kern="1200" dirty="0">
              <a:latin typeface="Arial"/>
              <a:cs typeface="Arial"/>
            </a:rPr>
            <a:t>Business Impact</a:t>
          </a:r>
          <a:endParaRPr lang="en-US" sz="2200" kern="1200" dirty="0">
            <a:latin typeface="Arial"/>
            <a:cs typeface="Arial"/>
          </a:endParaRPr>
        </a:p>
      </dsp:txBody>
      <dsp:txXfrm>
        <a:off x="371586" y="3297208"/>
        <a:ext cx="4694966"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6A6FCB-FBDF-45B8-89A6-7363A0826AF0}">
      <dsp:nvSpPr>
        <dsp:cNvPr id="0" name=""/>
        <dsp:cNvSpPr/>
      </dsp:nvSpPr>
      <dsp:spPr>
        <a:xfrm>
          <a:off x="0" y="1571"/>
          <a:ext cx="10058399" cy="7964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D83123-0393-4F73-BA2F-E3FD406F8E55}">
      <dsp:nvSpPr>
        <dsp:cNvPr id="0" name=""/>
        <dsp:cNvSpPr/>
      </dsp:nvSpPr>
      <dsp:spPr>
        <a:xfrm>
          <a:off x="240913" y="180763"/>
          <a:ext cx="438024" cy="4380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31586A-C7EB-4F19-ADF1-E5607416A77A}">
      <dsp:nvSpPr>
        <dsp:cNvPr id="0" name=""/>
        <dsp:cNvSpPr/>
      </dsp:nvSpPr>
      <dsp:spPr>
        <a:xfrm>
          <a:off x="919851" y="1571"/>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622300">
            <a:lnSpc>
              <a:spcPct val="100000"/>
            </a:lnSpc>
            <a:spcBef>
              <a:spcPct val="0"/>
            </a:spcBef>
            <a:spcAft>
              <a:spcPct val="35000"/>
            </a:spcAft>
            <a:buNone/>
          </a:pPr>
          <a:r>
            <a:rPr lang="en-US" sz="1400" b="1" kern="1200" dirty="0">
              <a:latin typeface="Arial"/>
              <a:cs typeface="Arial"/>
            </a:rPr>
            <a:t>Sample Size Detail</a:t>
          </a:r>
          <a:r>
            <a:rPr lang="en-US" sz="1400" kern="1200" dirty="0">
              <a:latin typeface="Arial"/>
              <a:cs typeface="Arial"/>
            </a:rPr>
            <a:t>: 76 reviews, representing over 30% of the total 242 reviews.</a:t>
          </a:r>
        </a:p>
      </dsp:txBody>
      <dsp:txXfrm>
        <a:off x="919851" y="1571"/>
        <a:ext cx="9138548" cy="796407"/>
      </dsp:txXfrm>
    </dsp:sp>
    <dsp:sp modelId="{5A28BADE-EE3A-4108-83E8-6F4BBA3906F8}">
      <dsp:nvSpPr>
        <dsp:cNvPr id="0" name=""/>
        <dsp:cNvSpPr/>
      </dsp:nvSpPr>
      <dsp:spPr>
        <a:xfrm>
          <a:off x="0" y="997081"/>
          <a:ext cx="10058399" cy="7964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13EAA8-74DA-49A9-A744-056442D3E138}">
      <dsp:nvSpPr>
        <dsp:cNvPr id="0" name=""/>
        <dsp:cNvSpPr/>
      </dsp:nvSpPr>
      <dsp:spPr>
        <a:xfrm>
          <a:off x="240913" y="1176272"/>
          <a:ext cx="438024" cy="4380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67E5F9D-7A46-4BF6-8044-8E9DFA07FC71}">
      <dsp:nvSpPr>
        <dsp:cNvPr id="0" name=""/>
        <dsp:cNvSpPr/>
      </dsp:nvSpPr>
      <dsp:spPr>
        <a:xfrm>
          <a:off x="919851" y="997081"/>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622300">
            <a:lnSpc>
              <a:spcPct val="100000"/>
            </a:lnSpc>
            <a:spcBef>
              <a:spcPct val="0"/>
            </a:spcBef>
            <a:spcAft>
              <a:spcPct val="35000"/>
            </a:spcAft>
            <a:buNone/>
          </a:pPr>
          <a:r>
            <a:rPr lang="en-US" sz="1400" b="1" kern="1200" dirty="0">
              <a:latin typeface="Arial"/>
              <a:cs typeface="Arial"/>
            </a:rPr>
            <a:t>Parameters analyzed - </a:t>
          </a:r>
          <a:r>
            <a:rPr lang="en-US" sz="1400" kern="1200" dirty="0">
              <a:latin typeface="Arial"/>
              <a:cs typeface="Arial"/>
            </a:rPr>
            <a:t>Client Industry, Employee Numbers, Duration with </a:t>
          </a:r>
          <a:r>
            <a:rPr lang="en-US" sz="1400" kern="1200" dirty="0" err="1">
              <a:latin typeface="Arial"/>
              <a:cs typeface="Arial"/>
            </a:rPr>
            <a:t>Wagepoint</a:t>
          </a:r>
          <a:r>
            <a:rPr lang="en-US" sz="1400" kern="1200" dirty="0">
              <a:latin typeface="Arial"/>
              <a:cs typeface="Arial"/>
            </a:rPr>
            <a:t>, Payment Frequency, Ease of Use, Customer Satisfaction, Value for Money, Overall Rating, Likely to Recommend (NPS).</a:t>
          </a:r>
        </a:p>
      </dsp:txBody>
      <dsp:txXfrm>
        <a:off x="919851" y="997081"/>
        <a:ext cx="9138548" cy="796407"/>
      </dsp:txXfrm>
    </dsp:sp>
    <dsp:sp modelId="{E0937CDA-B69E-469A-9D6B-72C7F2CB4E4A}">
      <dsp:nvSpPr>
        <dsp:cNvPr id="0" name=""/>
        <dsp:cNvSpPr/>
      </dsp:nvSpPr>
      <dsp:spPr>
        <a:xfrm>
          <a:off x="0" y="1992590"/>
          <a:ext cx="10058399" cy="7964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BB5756-B105-4FEA-A4BC-4D01E067AF39}">
      <dsp:nvSpPr>
        <dsp:cNvPr id="0" name=""/>
        <dsp:cNvSpPr/>
      </dsp:nvSpPr>
      <dsp:spPr>
        <a:xfrm>
          <a:off x="240913" y="2171782"/>
          <a:ext cx="438024" cy="4380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52F550-380D-4F98-A102-F4508185730C}">
      <dsp:nvSpPr>
        <dsp:cNvPr id="0" name=""/>
        <dsp:cNvSpPr/>
      </dsp:nvSpPr>
      <dsp:spPr>
        <a:xfrm>
          <a:off x="919851" y="1992590"/>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622300">
            <a:lnSpc>
              <a:spcPct val="100000"/>
            </a:lnSpc>
            <a:spcBef>
              <a:spcPct val="0"/>
            </a:spcBef>
            <a:spcAft>
              <a:spcPct val="35000"/>
            </a:spcAft>
            <a:buNone/>
          </a:pPr>
          <a:r>
            <a:rPr lang="en-US" sz="1400" b="1" kern="1200" dirty="0">
              <a:latin typeface="Arial"/>
              <a:cs typeface="Arial"/>
            </a:rPr>
            <a:t>Analysis Methodology: </a:t>
          </a:r>
          <a:r>
            <a:rPr lang="en-US" sz="1400" kern="1200" dirty="0">
              <a:latin typeface="Arial"/>
              <a:cs typeface="Arial"/>
            </a:rPr>
            <a:t>Performed customer segmentation to analyze correlations between multiple parameters.</a:t>
          </a:r>
        </a:p>
      </dsp:txBody>
      <dsp:txXfrm>
        <a:off x="919851" y="1992590"/>
        <a:ext cx="9138548" cy="796407"/>
      </dsp:txXfrm>
    </dsp:sp>
    <dsp:sp modelId="{54D35319-2B4D-4907-8C2B-CC6B26B8730A}">
      <dsp:nvSpPr>
        <dsp:cNvPr id="0" name=""/>
        <dsp:cNvSpPr/>
      </dsp:nvSpPr>
      <dsp:spPr>
        <a:xfrm>
          <a:off x="0" y="2988100"/>
          <a:ext cx="10058399" cy="7964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2C8B29-B53C-4E02-8F64-E71ED200578A}">
      <dsp:nvSpPr>
        <dsp:cNvPr id="0" name=""/>
        <dsp:cNvSpPr/>
      </dsp:nvSpPr>
      <dsp:spPr>
        <a:xfrm>
          <a:off x="240913" y="3167292"/>
          <a:ext cx="438024" cy="43802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C0EF8EA-B146-45F8-AC60-A0AE93992F4E}">
      <dsp:nvSpPr>
        <dsp:cNvPr id="0" name=""/>
        <dsp:cNvSpPr/>
      </dsp:nvSpPr>
      <dsp:spPr>
        <a:xfrm>
          <a:off x="919851" y="2988100"/>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622300">
            <a:lnSpc>
              <a:spcPct val="100000"/>
            </a:lnSpc>
            <a:spcBef>
              <a:spcPct val="0"/>
            </a:spcBef>
            <a:spcAft>
              <a:spcPct val="35000"/>
            </a:spcAft>
            <a:buNone/>
          </a:pPr>
          <a:r>
            <a:rPr lang="en-US" sz="1400" b="1" kern="1200" dirty="0">
              <a:latin typeface="Arial"/>
              <a:cs typeface="Arial"/>
            </a:rPr>
            <a:t>Additional Data Sources: </a:t>
          </a:r>
          <a:r>
            <a:rPr lang="en-US" sz="1400" kern="1200" dirty="0">
              <a:latin typeface="Arial"/>
              <a:cs typeface="Arial"/>
            </a:rPr>
            <a:t>Potentially enrich analysis with data from CRM tools, customer feedback systems, and usage analytics.</a:t>
          </a:r>
        </a:p>
      </dsp:txBody>
      <dsp:txXfrm>
        <a:off x="919851" y="2988100"/>
        <a:ext cx="9138548" cy="7964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3E2E44-DFA8-4842-AA5C-D373B2CCD951}">
      <dsp:nvSpPr>
        <dsp:cNvPr id="0" name=""/>
        <dsp:cNvSpPr/>
      </dsp:nvSpPr>
      <dsp:spPr>
        <a:xfrm>
          <a:off x="134825" y="275313"/>
          <a:ext cx="1295909" cy="129590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CBD35A-4F10-4DDB-8A05-1C1931D00BB8}">
      <dsp:nvSpPr>
        <dsp:cNvPr id="0" name=""/>
        <dsp:cNvSpPr/>
      </dsp:nvSpPr>
      <dsp:spPr>
        <a:xfrm>
          <a:off x="406966" y="547454"/>
          <a:ext cx="751627" cy="7516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720316-3028-44BE-A8AB-8E67E3ADE3FC}">
      <dsp:nvSpPr>
        <dsp:cNvPr id="0" name=""/>
        <dsp:cNvSpPr/>
      </dsp:nvSpPr>
      <dsp:spPr>
        <a:xfrm>
          <a:off x="1708430" y="275313"/>
          <a:ext cx="3054644" cy="1295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0" kern="1200" dirty="0">
              <a:latin typeface="Arial"/>
              <a:cs typeface="Arial"/>
            </a:rPr>
            <a:t>Companies with </a:t>
          </a:r>
          <a:r>
            <a:rPr lang="en-US" sz="1800" b="1" kern="1200" dirty="0">
              <a:latin typeface="Arial"/>
              <a:cs typeface="Arial"/>
            </a:rPr>
            <a:t>smaller employee counts</a:t>
          </a:r>
          <a:r>
            <a:rPr lang="en-US" sz="1800" kern="1200" dirty="0">
              <a:latin typeface="Arial"/>
              <a:cs typeface="Arial"/>
            </a:rPr>
            <a:t> report lower ratings on ease of use, customer satisfaction, value for money, NPS.</a:t>
          </a:r>
        </a:p>
      </dsp:txBody>
      <dsp:txXfrm>
        <a:off x="1708430" y="275313"/>
        <a:ext cx="3054644" cy="1295909"/>
      </dsp:txXfrm>
    </dsp:sp>
    <dsp:sp modelId="{D4D127A0-5736-422B-964D-BD83F020159A}">
      <dsp:nvSpPr>
        <dsp:cNvPr id="0" name=""/>
        <dsp:cNvSpPr/>
      </dsp:nvSpPr>
      <dsp:spPr>
        <a:xfrm>
          <a:off x="5295324" y="275313"/>
          <a:ext cx="1295909" cy="129590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C8624D-6444-40CB-B0BE-7ABCAB75B9BD}">
      <dsp:nvSpPr>
        <dsp:cNvPr id="0" name=""/>
        <dsp:cNvSpPr/>
      </dsp:nvSpPr>
      <dsp:spPr>
        <a:xfrm>
          <a:off x="5567465" y="547454"/>
          <a:ext cx="751627" cy="7516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FB87EC5-1A24-44BA-AC86-AD0F00EC2C60}">
      <dsp:nvSpPr>
        <dsp:cNvPr id="0" name=""/>
        <dsp:cNvSpPr/>
      </dsp:nvSpPr>
      <dsp:spPr>
        <a:xfrm>
          <a:off x="6868929" y="275313"/>
          <a:ext cx="3054644" cy="1295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Arial"/>
              <a:cs typeface="Arial"/>
            </a:rPr>
            <a:t>Newer clients</a:t>
          </a:r>
          <a:r>
            <a:rPr lang="en-US" sz="1800" kern="1200" dirty="0">
              <a:latin typeface="Arial"/>
              <a:cs typeface="Arial"/>
            </a:rPr>
            <a:t> (0-5 months, 6-10 months, 1-2 years) rate </a:t>
          </a:r>
          <a:r>
            <a:rPr lang="en-US" sz="1800" kern="1200" dirty="0" err="1">
              <a:latin typeface="Arial"/>
              <a:cs typeface="Arial"/>
            </a:rPr>
            <a:t>Wagepoint</a:t>
          </a:r>
          <a:r>
            <a:rPr lang="en-US" sz="1800" kern="1200" dirty="0">
              <a:latin typeface="Arial"/>
              <a:cs typeface="Arial"/>
            </a:rPr>
            <a:t> lower compared to clients who have been with the platform for 2+ years.</a:t>
          </a:r>
        </a:p>
      </dsp:txBody>
      <dsp:txXfrm>
        <a:off x="6868929" y="275313"/>
        <a:ext cx="3054644" cy="1295909"/>
      </dsp:txXfrm>
    </dsp:sp>
    <dsp:sp modelId="{4CEAD800-B08A-46B9-9391-85539A82A864}">
      <dsp:nvSpPr>
        <dsp:cNvPr id="0" name=""/>
        <dsp:cNvSpPr/>
      </dsp:nvSpPr>
      <dsp:spPr>
        <a:xfrm>
          <a:off x="134825" y="2214856"/>
          <a:ext cx="1295909" cy="129590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49BF8C-D187-46CC-A569-69227CF65163}">
      <dsp:nvSpPr>
        <dsp:cNvPr id="0" name=""/>
        <dsp:cNvSpPr/>
      </dsp:nvSpPr>
      <dsp:spPr>
        <a:xfrm>
          <a:off x="406966" y="2486997"/>
          <a:ext cx="751627" cy="75162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8D09EF-2426-45DA-8AA8-D8A5B7702AEA}">
      <dsp:nvSpPr>
        <dsp:cNvPr id="0" name=""/>
        <dsp:cNvSpPr/>
      </dsp:nvSpPr>
      <dsp:spPr>
        <a:xfrm>
          <a:off x="1708430" y="2214856"/>
          <a:ext cx="3054644" cy="1295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Arial"/>
              <a:cs typeface="Arial"/>
            </a:rPr>
            <a:t>Monthly users</a:t>
          </a:r>
          <a:r>
            <a:rPr lang="en-US" sz="1800" kern="1200" dirty="0">
              <a:latin typeface="Arial"/>
              <a:cs typeface="Arial"/>
            </a:rPr>
            <a:t> rate the platform lower on CSAT metrics compared to daily or weekly users.</a:t>
          </a:r>
        </a:p>
      </dsp:txBody>
      <dsp:txXfrm>
        <a:off x="1708430" y="2214856"/>
        <a:ext cx="3054644" cy="1295909"/>
      </dsp:txXfrm>
    </dsp:sp>
    <dsp:sp modelId="{19758AB7-E0C2-4965-B8C6-1698FB0E796C}">
      <dsp:nvSpPr>
        <dsp:cNvPr id="0" name=""/>
        <dsp:cNvSpPr/>
      </dsp:nvSpPr>
      <dsp:spPr>
        <a:xfrm>
          <a:off x="5295324" y="2214856"/>
          <a:ext cx="1295909" cy="129590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0D4303-4760-40E5-AEB1-D362D3E6F5E3}">
      <dsp:nvSpPr>
        <dsp:cNvPr id="0" name=""/>
        <dsp:cNvSpPr/>
      </dsp:nvSpPr>
      <dsp:spPr>
        <a:xfrm>
          <a:off x="5567465" y="2486997"/>
          <a:ext cx="751627" cy="75162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76B8C7-4F70-4D8E-85AB-7ADA227D2935}">
      <dsp:nvSpPr>
        <dsp:cNvPr id="0" name=""/>
        <dsp:cNvSpPr/>
      </dsp:nvSpPr>
      <dsp:spPr>
        <a:xfrm>
          <a:off x="6868929" y="2214856"/>
          <a:ext cx="3054644" cy="12959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rtl="0">
            <a:lnSpc>
              <a:spcPct val="90000"/>
            </a:lnSpc>
            <a:spcBef>
              <a:spcPct val="0"/>
            </a:spcBef>
            <a:spcAft>
              <a:spcPct val="35000"/>
            </a:spcAft>
            <a:buNone/>
          </a:pPr>
          <a:r>
            <a:rPr lang="en-US" sz="1800" kern="1200" dirty="0">
              <a:latin typeface="Arial"/>
              <a:cs typeface="Arial"/>
            </a:rPr>
            <a:t>Customers frequently cite the need for a </a:t>
          </a:r>
          <a:r>
            <a:rPr lang="en-US" sz="1800" b="1" kern="1200" dirty="0">
              <a:latin typeface="Arial"/>
              <a:cs typeface="Arial"/>
            </a:rPr>
            <a:t>dedicated call agent, UI improvement, and high price </a:t>
          </a:r>
          <a:r>
            <a:rPr lang="en-US" sz="1800" b="0" kern="1200" dirty="0">
              <a:latin typeface="Arial"/>
              <a:cs typeface="Arial"/>
            </a:rPr>
            <a:t>as</a:t>
          </a:r>
          <a:r>
            <a:rPr lang="en-US" sz="1800" kern="1200" dirty="0">
              <a:latin typeface="Arial"/>
              <a:cs typeface="Arial"/>
            </a:rPr>
            <a:t> their primary pain points.</a:t>
          </a:r>
        </a:p>
      </dsp:txBody>
      <dsp:txXfrm>
        <a:off x="6868929" y="2214856"/>
        <a:ext cx="3054644" cy="12959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5D0761-D8D2-4B30-B098-E4FE5855D64E}">
      <dsp:nvSpPr>
        <dsp:cNvPr id="0" name=""/>
        <dsp:cNvSpPr/>
      </dsp:nvSpPr>
      <dsp:spPr>
        <a:xfrm>
          <a:off x="0" y="1774"/>
          <a:ext cx="10187794" cy="89923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1115B7-397D-419C-AB5D-424E66C80435}">
      <dsp:nvSpPr>
        <dsp:cNvPr id="0" name=""/>
        <dsp:cNvSpPr/>
      </dsp:nvSpPr>
      <dsp:spPr>
        <a:xfrm>
          <a:off x="272018" y="204101"/>
          <a:ext cx="494578" cy="4945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0B4AC02-2277-4D75-AD0A-6BC16A060983}">
      <dsp:nvSpPr>
        <dsp:cNvPr id="0" name=""/>
        <dsp:cNvSpPr/>
      </dsp:nvSpPr>
      <dsp:spPr>
        <a:xfrm>
          <a:off x="1038615" y="1774"/>
          <a:ext cx="9149178" cy="899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69" tIns="95169" rIns="95169" bIns="95169"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Arial"/>
              <a:cs typeface="Arial"/>
            </a:rPr>
            <a:t>Tailored Support for Smaller Companies</a:t>
          </a:r>
          <a:r>
            <a:rPr lang="en-US" sz="2000" kern="1200" dirty="0">
              <a:latin typeface="Arial"/>
              <a:cs typeface="Arial"/>
            </a:rPr>
            <a:t>: Provide personalized onboarding and proactive support to address their unique challenges.</a:t>
          </a:r>
        </a:p>
      </dsp:txBody>
      <dsp:txXfrm>
        <a:off x="1038615" y="1774"/>
        <a:ext cx="9149178" cy="899233"/>
      </dsp:txXfrm>
    </dsp:sp>
    <dsp:sp modelId="{52D2F6BA-B39A-4FA8-A0F3-84376F26C1F5}">
      <dsp:nvSpPr>
        <dsp:cNvPr id="0" name=""/>
        <dsp:cNvSpPr/>
      </dsp:nvSpPr>
      <dsp:spPr>
        <a:xfrm>
          <a:off x="0" y="1125816"/>
          <a:ext cx="10187794" cy="89923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B3127E-6CE4-4E51-BD46-9279F93EE025}">
      <dsp:nvSpPr>
        <dsp:cNvPr id="0" name=""/>
        <dsp:cNvSpPr/>
      </dsp:nvSpPr>
      <dsp:spPr>
        <a:xfrm>
          <a:off x="272018" y="1328144"/>
          <a:ext cx="494578" cy="4945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63F512E-89C8-43C5-A3AD-F8B0FC5A2F2E}">
      <dsp:nvSpPr>
        <dsp:cNvPr id="0" name=""/>
        <dsp:cNvSpPr/>
      </dsp:nvSpPr>
      <dsp:spPr>
        <a:xfrm>
          <a:off x="1038615" y="1125816"/>
          <a:ext cx="9149178" cy="899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69" tIns="95169" rIns="95169" bIns="95169"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Arial"/>
              <a:cs typeface="Arial"/>
            </a:rPr>
            <a:t>Enhanced Onboarding for New Clients (0-2 Years)</a:t>
          </a:r>
          <a:r>
            <a:rPr lang="en-US" sz="2000" kern="1200" dirty="0">
              <a:latin typeface="Arial"/>
              <a:cs typeface="Arial"/>
            </a:rPr>
            <a:t>: Implement milestone-based check-ins and regular engagement to improve early-stage satisfaction.</a:t>
          </a:r>
        </a:p>
      </dsp:txBody>
      <dsp:txXfrm>
        <a:off x="1038615" y="1125816"/>
        <a:ext cx="9149178" cy="899233"/>
      </dsp:txXfrm>
    </dsp:sp>
    <dsp:sp modelId="{D2A62808-18B1-4BDB-8C77-9230F1DACA37}">
      <dsp:nvSpPr>
        <dsp:cNvPr id="0" name=""/>
        <dsp:cNvSpPr/>
      </dsp:nvSpPr>
      <dsp:spPr>
        <a:xfrm>
          <a:off x="0" y="2249858"/>
          <a:ext cx="10187794" cy="89923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09EC20-4582-4354-AFB8-9DAA7166D853}">
      <dsp:nvSpPr>
        <dsp:cNvPr id="0" name=""/>
        <dsp:cNvSpPr/>
      </dsp:nvSpPr>
      <dsp:spPr>
        <a:xfrm>
          <a:off x="272018" y="2452186"/>
          <a:ext cx="494578" cy="4945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9BF8DD3-A17A-47A5-8A41-90B5BF56E7AB}">
      <dsp:nvSpPr>
        <dsp:cNvPr id="0" name=""/>
        <dsp:cNvSpPr/>
      </dsp:nvSpPr>
      <dsp:spPr>
        <a:xfrm>
          <a:off x="1038615" y="2249858"/>
          <a:ext cx="9149178" cy="899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69" tIns="95169" rIns="95169" bIns="95169"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Arial"/>
              <a:cs typeface="Arial"/>
            </a:rPr>
            <a:t>Engagement for Monthly Users</a:t>
          </a:r>
          <a:r>
            <a:rPr lang="en-US" sz="2000" kern="1200" dirty="0">
              <a:latin typeface="Arial"/>
              <a:cs typeface="Arial"/>
            </a:rPr>
            <a:t>: Offer targeted communication and features to increase interaction and value perception.</a:t>
          </a:r>
        </a:p>
      </dsp:txBody>
      <dsp:txXfrm>
        <a:off x="1038615" y="2249858"/>
        <a:ext cx="9149178" cy="899233"/>
      </dsp:txXfrm>
    </dsp:sp>
    <dsp:sp modelId="{432F36A5-9029-40B9-8ADF-533E7816DAE8}">
      <dsp:nvSpPr>
        <dsp:cNvPr id="0" name=""/>
        <dsp:cNvSpPr/>
      </dsp:nvSpPr>
      <dsp:spPr>
        <a:xfrm>
          <a:off x="0" y="3373900"/>
          <a:ext cx="10187794" cy="89923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8A2547-3690-43D6-8936-1AA82A1F518F}">
      <dsp:nvSpPr>
        <dsp:cNvPr id="0" name=""/>
        <dsp:cNvSpPr/>
      </dsp:nvSpPr>
      <dsp:spPr>
        <a:xfrm>
          <a:off x="272018" y="3576228"/>
          <a:ext cx="494578" cy="4945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A81FAB-171F-4887-8121-B5B931232974}">
      <dsp:nvSpPr>
        <dsp:cNvPr id="0" name=""/>
        <dsp:cNvSpPr/>
      </dsp:nvSpPr>
      <dsp:spPr>
        <a:xfrm>
          <a:off x="1038615" y="3373900"/>
          <a:ext cx="9149178" cy="899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169" tIns="95169" rIns="95169" bIns="95169"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Arial"/>
              <a:cs typeface="Arial"/>
            </a:rPr>
            <a:t>Address Key Cons</a:t>
          </a:r>
          <a:r>
            <a:rPr lang="en-US" sz="2000" kern="1200" dirty="0">
              <a:latin typeface="Arial"/>
              <a:cs typeface="Arial"/>
            </a:rPr>
            <a:t>: Introduce optional call agent support, improve UI, and offer flexible pricing models to address customer pain points.</a:t>
          </a:r>
        </a:p>
      </dsp:txBody>
      <dsp:txXfrm>
        <a:off x="1038615" y="3373900"/>
        <a:ext cx="9149178" cy="89923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B45745-B1E0-4853-8179-DB8E2E8EB2CE}">
      <dsp:nvSpPr>
        <dsp:cNvPr id="0" name=""/>
        <dsp:cNvSpPr/>
      </dsp:nvSpPr>
      <dsp:spPr>
        <a:xfrm>
          <a:off x="0" y="1571"/>
          <a:ext cx="10058399" cy="7964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F111CF-6A33-4359-A636-11452F3BB484}">
      <dsp:nvSpPr>
        <dsp:cNvPr id="0" name=""/>
        <dsp:cNvSpPr/>
      </dsp:nvSpPr>
      <dsp:spPr>
        <a:xfrm>
          <a:off x="240913" y="180763"/>
          <a:ext cx="438024" cy="4380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CEF0CD8-4052-4248-8851-B02047867FC0}">
      <dsp:nvSpPr>
        <dsp:cNvPr id="0" name=""/>
        <dsp:cNvSpPr/>
      </dsp:nvSpPr>
      <dsp:spPr>
        <a:xfrm>
          <a:off x="919851" y="1571"/>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a:cs typeface="Arial"/>
            </a:rPr>
            <a:t>F</a:t>
          </a:r>
          <a:r>
            <a:rPr lang="en-US" sz="2200" b="0" kern="1200" dirty="0">
              <a:latin typeface="Arial"/>
              <a:cs typeface="Arial"/>
            </a:rPr>
            <a:t>or Companies with Low Employee Count:</a:t>
          </a:r>
          <a:r>
            <a:rPr lang="en-US" sz="2200" kern="1200" dirty="0">
              <a:latin typeface="Arial"/>
              <a:cs typeface="Arial"/>
            </a:rPr>
            <a:t> Customer Satisfaction Score (CSAT), Net Promoter Score (NPS)</a:t>
          </a:r>
        </a:p>
      </dsp:txBody>
      <dsp:txXfrm>
        <a:off x="919851" y="1571"/>
        <a:ext cx="9138548" cy="796407"/>
      </dsp:txXfrm>
    </dsp:sp>
    <dsp:sp modelId="{6595C754-7FD3-415F-9A90-57B565D430B2}">
      <dsp:nvSpPr>
        <dsp:cNvPr id="0" name=""/>
        <dsp:cNvSpPr/>
      </dsp:nvSpPr>
      <dsp:spPr>
        <a:xfrm>
          <a:off x="0" y="997081"/>
          <a:ext cx="10058399" cy="7964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9AB092-131D-448B-BA2D-0195AD310EFC}">
      <dsp:nvSpPr>
        <dsp:cNvPr id="0" name=""/>
        <dsp:cNvSpPr/>
      </dsp:nvSpPr>
      <dsp:spPr>
        <a:xfrm>
          <a:off x="240913" y="1176272"/>
          <a:ext cx="438024" cy="4380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C66C3E-3241-4163-B563-C91E5C3DCC25}">
      <dsp:nvSpPr>
        <dsp:cNvPr id="0" name=""/>
        <dsp:cNvSpPr/>
      </dsp:nvSpPr>
      <dsp:spPr>
        <a:xfrm>
          <a:off x="919851" y="997081"/>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a:cs typeface="Arial"/>
            </a:rPr>
            <a:t>For New Clients (0-2 Years): Customer Retention Rate (CRR), Onboarding Satisfaction Score (OSS)</a:t>
          </a:r>
        </a:p>
      </dsp:txBody>
      <dsp:txXfrm>
        <a:off x="919851" y="997081"/>
        <a:ext cx="9138548" cy="796407"/>
      </dsp:txXfrm>
    </dsp:sp>
    <dsp:sp modelId="{BFEFCAD8-7AD2-46D6-9092-C3A9BD26836B}">
      <dsp:nvSpPr>
        <dsp:cNvPr id="0" name=""/>
        <dsp:cNvSpPr/>
      </dsp:nvSpPr>
      <dsp:spPr>
        <a:xfrm>
          <a:off x="0" y="1992590"/>
          <a:ext cx="10058399" cy="7964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E7953C-41CC-4D9D-A86B-4EDDC3971B9F}">
      <dsp:nvSpPr>
        <dsp:cNvPr id="0" name=""/>
        <dsp:cNvSpPr/>
      </dsp:nvSpPr>
      <dsp:spPr>
        <a:xfrm>
          <a:off x="240913" y="2171782"/>
          <a:ext cx="438024" cy="4380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DAF8E9E-C53C-4E0D-8B19-E6E4A78A4E4B}">
      <dsp:nvSpPr>
        <dsp:cNvPr id="0" name=""/>
        <dsp:cNvSpPr/>
      </dsp:nvSpPr>
      <dsp:spPr>
        <a:xfrm>
          <a:off x="919851" y="1992590"/>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a:cs typeface="Arial"/>
            </a:rPr>
            <a:t>For Monthly Users: User Engagement Rate (UER), CSAT for Monthly Users</a:t>
          </a:r>
        </a:p>
      </dsp:txBody>
      <dsp:txXfrm>
        <a:off x="919851" y="1992590"/>
        <a:ext cx="9138548" cy="796407"/>
      </dsp:txXfrm>
    </dsp:sp>
    <dsp:sp modelId="{C6E6D473-A687-45A4-B1B7-67141A1E775D}">
      <dsp:nvSpPr>
        <dsp:cNvPr id="0" name=""/>
        <dsp:cNvSpPr/>
      </dsp:nvSpPr>
      <dsp:spPr>
        <a:xfrm>
          <a:off x="0" y="2988100"/>
          <a:ext cx="10058399" cy="79640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CED24F-45D0-4F8D-AE4E-45B358608BF5}">
      <dsp:nvSpPr>
        <dsp:cNvPr id="0" name=""/>
        <dsp:cNvSpPr/>
      </dsp:nvSpPr>
      <dsp:spPr>
        <a:xfrm>
          <a:off x="240913" y="3167292"/>
          <a:ext cx="438024" cy="43802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536B502-8DB5-4237-A926-6E5A7D4A0247}">
      <dsp:nvSpPr>
        <dsp:cNvPr id="0" name=""/>
        <dsp:cNvSpPr/>
      </dsp:nvSpPr>
      <dsp:spPr>
        <a:xfrm>
          <a:off x="919851" y="2988100"/>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rial"/>
              <a:cs typeface="Arial"/>
            </a:rPr>
            <a:t>Addressing Key Cons: Customer Support Ticket Volume, UI Satisfaction Score</a:t>
          </a:r>
        </a:p>
      </dsp:txBody>
      <dsp:txXfrm>
        <a:off x="919851" y="2988100"/>
        <a:ext cx="9138548" cy="7964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85B00D-13AB-42B3-AF95-7F37480B431D}">
      <dsp:nvSpPr>
        <dsp:cNvPr id="0" name=""/>
        <dsp:cNvSpPr/>
      </dsp:nvSpPr>
      <dsp:spPr>
        <a:xfrm>
          <a:off x="2011680" y="1856"/>
          <a:ext cx="8046720" cy="961638"/>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129" tIns="244256" rIns="156129" bIns="244256" numCol="1" spcCol="1270" anchor="ctr" anchorCtr="0">
          <a:noAutofit/>
        </a:bodyPr>
        <a:lstStyle/>
        <a:p>
          <a:pPr marL="0" lvl="0" indent="0" algn="l" defTabSz="666750" rtl="0">
            <a:lnSpc>
              <a:spcPct val="100000"/>
            </a:lnSpc>
            <a:spcBef>
              <a:spcPct val="0"/>
            </a:spcBef>
            <a:spcAft>
              <a:spcPct val="35000"/>
            </a:spcAft>
            <a:buNone/>
          </a:pPr>
          <a:r>
            <a:rPr lang="en-US" sz="1500" b="1" kern="1200" dirty="0">
              <a:latin typeface="Arial"/>
              <a:cs typeface="Arial"/>
            </a:rPr>
            <a:t>Achieve a 5-8% decrease in total customer churn in the next 8-12 months.</a:t>
          </a:r>
        </a:p>
      </dsp:txBody>
      <dsp:txXfrm>
        <a:off x="2011680" y="1856"/>
        <a:ext cx="8046720" cy="961638"/>
      </dsp:txXfrm>
    </dsp:sp>
    <dsp:sp modelId="{2491D899-F38E-4637-9D97-38740847C87E}">
      <dsp:nvSpPr>
        <dsp:cNvPr id="0" name=""/>
        <dsp:cNvSpPr/>
      </dsp:nvSpPr>
      <dsp:spPr>
        <a:xfrm>
          <a:off x="0" y="1856"/>
          <a:ext cx="2011680" cy="961638"/>
        </a:xfrm>
        <a:prstGeom prst="rect">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451" tIns="94988" rIns="106451" bIns="94988"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Arial"/>
              <a:cs typeface="Arial"/>
            </a:rPr>
            <a:t>Reduce total customer churn</a:t>
          </a:r>
        </a:p>
      </dsp:txBody>
      <dsp:txXfrm>
        <a:off x="0" y="1856"/>
        <a:ext cx="2011680" cy="961638"/>
      </dsp:txXfrm>
    </dsp:sp>
    <dsp:sp modelId="{DF0D8AAE-8FFB-46E5-851A-1BB2733BF79D}">
      <dsp:nvSpPr>
        <dsp:cNvPr id="0" name=""/>
        <dsp:cNvSpPr/>
      </dsp:nvSpPr>
      <dsp:spPr>
        <a:xfrm>
          <a:off x="2011680" y="1021192"/>
          <a:ext cx="8046720" cy="961638"/>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129" tIns="244256" rIns="156129" bIns="244256" numCol="1" spcCol="1270" anchor="ctr" anchorCtr="0">
          <a:noAutofit/>
        </a:bodyPr>
        <a:lstStyle/>
        <a:p>
          <a:pPr marL="0" lvl="0" indent="0" algn="l" defTabSz="666750">
            <a:lnSpc>
              <a:spcPct val="100000"/>
            </a:lnSpc>
            <a:spcBef>
              <a:spcPct val="0"/>
            </a:spcBef>
            <a:spcAft>
              <a:spcPct val="35000"/>
            </a:spcAft>
            <a:buNone/>
          </a:pPr>
          <a:r>
            <a:rPr lang="en-US" sz="1500" b="1" kern="1200" dirty="0">
              <a:latin typeface="Arial"/>
              <a:cs typeface="Arial"/>
            </a:rPr>
            <a:t>Increase average CSAT score by 15-20%  across smaller companies and monthly users in the next 12 months.</a:t>
          </a:r>
        </a:p>
      </dsp:txBody>
      <dsp:txXfrm>
        <a:off x="2011680" y="1021192"/>
        <a:ext cx="8046720" cy="961638"/>
      </dsp:txXfrm>
    </dsp:sp>
    <dsp:sp modelId="{BD68EC4E-36ED-4264-A47C-05A4E14B25FE}">
      <dsp:nvSpPr>
        <dsp:cNvPr id="0" name=""/>
        <dsp:cNvSpPr/>
      </dsp:nvSpPr>
      <dsp:spPr>
        <a:xfrm>
          <a:off x="0" y="1021192"/>
          <a:ext cx="2011680" cy="961638"/>
        </a:xfrm>
        <a:prstGeom prst="rect">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451" tIns="94988" rIns="106451" bIns="94988"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Arial"/>
              <a:cs typeface="Arial"/>
            </a:rPr>
            <a:t>Small companies and monthly users feel heard</a:t>
          </a:r>
        </a:p>
      </dsp:txBody>
      <dsp:txXfrm>
        <a:off x="0" y="1021192"/>
        <a:ext cx="2011680" cy="961638"/>
      </dsp:txXfrm>
    </dsp:sp>
    <dsp:sp modelId="{70A17722-4E95-4F58-93DB-9AFB49D28730}">
      <dsp:nvSpPr>
        <dsp:cNvPr id="0" name=""/>
        <dsp:cNvSpPr/>
      </dsp:nvSpPr>
      <dsp:spPr>
        <a:xfrm>
          <a:off x="2011680" y="2040529"/>
          <a:ext cx="8046720" cy="961638"/>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129" tIns="244256" rIns="156129" bIns="244256" numCol="1" spcCol="1270" anchor="ctr" anchorCtr="0">
          <a:noAutofit/>
        </a:bodyPr>
        <a:lstStyle/>
        <a:p>
          <a:pPr marL="0" lvl="0" indent="0" algn="l" defTabSz="666750">
            <a:lnSpc>
              <a:spcPct val="100000"/>
            </a:lnSpc>
            <a:spcBef>
              <a:spcPct val="0"/>
            </a:spcBef>
            <a:spcAft>
              <a:spcPct val="35000"/>
            </a:spcAft>
            <a:buNone/>
          </a:pPr>
          <a:r>
            <a:rPr lang="en-US" sz="1500" b="1" kern="1200" dirty="0">
              <a:latin typeface="Arial"/>
              <a:cs typeface="Arial"/>
            </a:rPr>
            <a:t>Increase OSS among new clients by establishing feedback loops especially during and after onboarding process.</a:t>
          </a:r>
        </a:p>
      </dsp:txBody>
      <dsp:txXfrm>
        <a:off x="2011680" y="2040529"/>
        <a:ext cx="8046720" cy="961638"/>
      </dsp:txXfrm>
    </dsp:sp>
    <dsp:sp modelId="{775DD910-9013-4819-A15B-4A4044A419A9}">
      <dsp:nvSpPr>
        <dsp:cNvPr id="0" name=""/>
        <dsp:cNvSpPr/>
      </dsp:nvSpPr>
      <dsp:spPr>
        <a:xfrm>
          <a:off x="0" y="2040529"/>
          <a:ext cx="2011680" cy="961638"/>
        </a:xfrm>
        <a:prstGeom prst="rect">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451" tIns="94988" rIns="106451" bIns="94988"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Arial"/>
              <a:cs typeface="Arial"/>
            </a:rPr>
            <a:t>Streamline onboarding process</a:t>
          </a:r>
        </a:p>
      </dsp:txBody>
      <dsp:txXfrm>
        <a:off x="0" y="2040529"/>
        <a:ext cx="2011680" cy="961638"/>
      </dsp:txXfrm>
    </dsp:sp>
    <dsp:sp modelId="{82157F5E-35CF-472C-8B46-A74BA50DA2C3}">
      <dsp:nvSpPr>
        <dsp:cNvPr id="0" name=""/>
        <dsp:cNvSpPr/>
      </dsp:nvSpPr>
      <dsp:spPr>
        <a:xfrm>
          <a:off x="2011680" y="3059865"/>
          <a:ext cx="8046720" cy="961638"/>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129" tIns="244256" rIns="156129" bIns="244256" numCol="1" spcCol="1270" anchor="ctr" anchorCtr="0">
          <a:noAutofit/>
        </a:bodyPr>
        <a:lstStyle/>
        <a:p>
          <a:pPr marL="0" lvl="0" indent="0" algn="l" defTabSz="666750">
            <a:lnSpc>
              <a:spcPct val="100000"/>
            </a:lnSpc>
            <a:spcBef>
              <a:spcPct val="0"/>
            </a:spcBef>
            <a:spcAft>
              <a:spcPct val="35000"/>
            </a:spcAft>
            <a:buNone/>
          </a:pPr>
          <a:r>
            <a:rPr lang="en-US" sz="1500" b="1" kern="1200" dirty="0">
              <a:latin typeface="Arial"/>
              <a:cs typeface="Arial"/>
            </a:rPr>
            <a:t>Reduce average no. of customer support tickets to address current cons as cited by clients.</a:t>
          </a:r>
        </a:p>
      </dsp:txBody>
      <dsp:txXfrm>
        <a:off x="2011680" y="3059865"/>
        <a:ext cx="8046720" cy="961638"/>
      </dsp:txXfrm>
    </dsp:sp>
    <dsp:sp modelId="{811B6CE2-7F04-4540-9F4F-15A9941C72F5}">
      <dsp:nvSpPr>
        <dsp:cNvPr id="0" name=""/>
        <dsp:cNvSpPr/>
      </dsp:nvSpPr>
      <dsp:spPr>
        <a:xfrm>
          <a:off x="0" y="3059865"/>
          <a:ext cx="2011680" cy="961638"/>
        </a:xfrm>
        <a:prstGeom prst="rect">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451" tIns="94988" rIns="106451" bIns="94988"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Arial"/>
              <a:cs typeface="Arial"/>
            </a:rPr>
            <a:t>Successfully addressing current cons</a:t>
          </a:r>
        </a:p>
      </dsp:txBody>
      <dsp:txXfrm>
        <a:off x="0" y="3059865"/>
        <a:ext cx="2011680" cy="9616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3470B9-0F00-4EF9-B252-3C3DDE4FEE04}" type="datetimeFigureOut">
              <a:t>9/17/2024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C844E8-61FA-4B8D-B431-57F2BFFB035E}" type="slidenum">
              <a:t>‹#›</a:t>
            </a:fld>
            <a:endParaRPr lang="en-US"/>
          </a:p>
        </p:txBody>
      </p:sp>
    </p:spTree>
    <p:extLst>
      <p:ext uri="{BB962C8B-B14F-4D97-AF65-F5344CB8AC3E}">
        <p14:creationId xmlns:p14="http://schemas.microsoft.com/office/powerpoint/2010/main" val="4247175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 high churn rate means we've to spend more on customer acquisition to replace lost customers, limiting overall growth. Further, negative word of mouth.</a:t>
            </a:r>
          </a:p>
        </p:txBody>
      </p:sp>
      <p:sp>
        <p:nvSpPr>
          <p:cNvPr id="4" name="Slide Number Placeholder 3"/>
          <p:cNvSpPr>
            <a:spLocks noGrp="1"/>
          </p:cNvSpPr>
          <p:nvPr>
            <p:ph type="sldNum" sz="quarter" idx="5"/>
          </p:nvPr>
        </p:nvSpPr>
        <p:spPr/>
        <p:txBody>
          <a:bodyPr/>
          <a:lstStyle/>
          <a:p>
            <a:fld id="{E6C844E8-61FA-4B8D-B431-57F2BFFB035E}" type="slidenum">
              <a:rPr lang="en-US"/>
              <a:t>2</a:t>
            </a:fld>
            <a:endParaRPr lang="en-US"/>
          </a:p>
        </p:txBody>
      </p:sp>
    </p:spTree>
    <p:extLst>
      <p:ext uri="{BB962C8B-B14F-4D97-AF65-F5344CB8AC3E}">
        <p14:creationId xmlns:p14="http://schemas.microsoft.com/office/powerpoint/2010/main" val="2663618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4)</a:t>
            </a:r>
            <a:r>
              <a:rPr lang="en-US" dirty="0"/>
              <a:t> Using CRM tools will help track the entire customer journey, from onboarding to renewal or churn. This will enable us to better understand customer interactions, satisfaction touchpoints, and how engagement levels shift over time. We can then correlate these findings with churn patterns and customer feedback for more precise interventions.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6C844E8-61FA-4B8D-B431-57F2BFFB035E}" type="slidenum">
              <a:rPr lang="en-US"/>
              <a:t>3</a:t>
            </a:fld>
            <a:endParaRPr lang="en-US"/>
          </a:p>
        </p:txBody>
      </p:sp>
    </p:spTree>
    <p:extLst>
      <p:ext uri="{BB962C8B-B14F-4D97-AF65-F5344CB8AC3E}">
        <p14:creationId xmlns:p14="http://schemas.microsoft.com/office/powerpoint/2010/main" val="1013101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dirty="0"/>
              <a:t>Customers with a low employee count tend to give low scores in customer satisfaction metrics (ease of use, value for money, NPS) -- </a:t>
            </a:r>
            <a:r>
              <a:rPr lang="en-US" b="1" dirty="0"/>
              <a:t>Impact: </a:t>
            </a:r>
            <a:r>
              <a:rPr lang="en-US" dirty="0"/>
              <a:t>Smaller businesses may find </a:t>
            </a:r>
            <a:r>
              <a:rPr lang="en-US" dirty="0" err="1"/>
              <a:t>Wagepoint</a:t>
            </a:r>
            <a:r>
              <a:rPr lang="en-US" dirty="0"/>
              <a:t> less intuitive, suggesting the need for customized support and features to address their specific challenges.</a:t>
            </a:r>
            <a:endParaRPr lang="en-US" b="1" dirty="0"/>
          </a:p>
          <a:p>
            <a:pPr marL="285750" indent="-285750">
              <a:buFont typeface="Arial"/>
              <a:buChar char="•"/>
            </a:pPr>
            <a:r>
              <a:rPr lang="en-US" dirty="0"/>
              <a:t>80% (20/25) of 0, 1, 2, or 3 ratings in customer satisfaction ratings came from clients with 0-2 years with </a:t>
            </a:r>
            <a:r>
              <a:rPr lang="en-US" dirty="0" err="1"/>
              <a:t>Wagepoint</a:t>
            </a:r>
            <a:r>
              <a:rPr lang="en-US" dirty="0"/>
              <a:t> – </a:t>
            </a:r>
            <a:r>
              <a:rPr lang="en-US" b="1" dirty="0"/>
              <a:t>Impact: </a:t>
            </a:r>
            <a:r>
              <a:rPr lang="en-US" dirty="0"/>
              <a:t>This indicates that onboarding and early engagement efforts need improvement to retain new customers and enhance their experience.</a:t>
            </a:r>
            <a:endParaRPr lang="en-US" b="1" dirty="0">
              <a:ea typeface="Calibri"/>
              <a:cs typeface="Calibri"/>
            </a:endParaRPr>
          </a:p>
          <a:p>
            <a:pPr marL="285750" indent="-285750">
              <a:buFont typeface="Arial"/>
              <a:buChar char="•"/>
            </a:pPr>
            <a:r>
              <a:rPr lang="en-US" dirty="0">
                <a:ea typeface="Calibri"/>
                <a:cs typeface="Calibri"/>
              </a:rPr>
              <a:t>100% (5/5) of 0 and 1 ratings in CSAT metrics came from monthly users of </a:t>
            </a:r>
            <a:r>
              <a:rPr lang="en-US" dirty="0" err="1">
                <a:ea typeface="Calibri"/>
                <a:cs typeface="Calibri"/>
              </a:rPr>
              <a:t>Wagepoint</a:t>
            </a:r>
            <a:r>
              <a:rPr lang="en-US" dirty="0">
                <a:ea typeface="Calibri"/>
                <a:cs typeface="Calibri"/>
              </a:rPr>
              <a:t> -- </a:t>
            </a:r>
            <a:r>
              <a:rPr lang="en-US" b="1" dirty="0"/>
              <a:t>Impact</a:t>
            </a:r>
            <a:r>
              <a:rPr lang="en-US" dirty="0"/>
              <a:t>: Monthly subscription users may feel disengaged, suggesting that improved user engagement or alternative pricing options could enhance their perceived value.</a:t>
            </a:r>
            <a:endParaRPr lang="en-US" dirty="0">
              <a:ea typeface="Calibri"/>
              <a:cs typeface="Calibri"/>
            </a:endParaRPr>
          </a:p>
          <a:p>
            <a:pPr marL="285750" indent="-285750">
              <a:buFont typeface="Arial"/>
              <a:buChar char="•"/>
            </a:pPr>
            <a:r>
              <a:rPr lang="en-US" dirty="0">
                <a:ea typeface="Calibri"/>
                <a:cs typeface="Calibri"/>
              </a:rPr>
              <a:t>Some of the leading cons according to reviews were the need for a voice agent, better UI, and high service cost – </a:t>
            </a:r>
            <a:r>
              <a:rPr lang="en-US" b="1" dirty="0">
                <a:ea typeface="Calibri"/>
                <a:cs typeface="Calibri"/>
              </a:rPr>
              <a:t>Impact: </a:t>
            </a:r>
            <a:r>
              <a:rPr lang="en-US" dirty="0"/>
              <a:t>Addressing these concerns could significantly improve user experience and satisfaction, especially for clients facing onboarding or interface challenges.</a:t>
            </a:r>
            <a:endParaRPr lang="en-US" b="1" dirty="0">
              <a:ea typeface="Calibri"/>
              <a:cs typeface="Calibri"/>
            </a:endParaRPr>
          </a:p>
          <a:p>
            <a:pPr marL="285750" indent="-285750">
              <a:buFont typeface="Arial"/>
              <a:buChar char="•"/>
            </a:pPr>
            <a:endParaRPr lang="en-US" dirty="0">
              <a:ea typeface="Calibri"/>
              <a:cs typeface="Calibri"/>
            </a:endParaRPr>
          </a:p>
          <a:p>
            <a:pPr marL="285750" indent="-285750">
              <a:buFont typeface="Arial"/>
              <a:buChar char="•"/>
            </a:pP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6C844E8-61FA-4B8D-B431-57F2BFFB035E}" type="slidenum">
              <a:t>4</a:t>
            </a:fld>
            <a:endParaRPr lang="en-US"/>
          </a:p>
        </p:txBody>
      </p:sp>
    </p:spTree>
    <p:extLst>
      <p:ext uri="{BB962C8B-B14F-4D97-AF65-F5344CB8AC3E}">
        <p14:creationId xmlns:p14="http://schemas.microsoft.com/office/powerpoint/2010/main" val="2723201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err="1">
                <a:ea typeface="Calibri"/>
                <a:cs typeface="Calibri"/>
              </a:rPr>
              <a:t>Eg</a:t>
            </a:r>
            <a:r>
              <a:rPr lang="en-US" dirty="0">
                <a:ea typeface="Calibri"/>
                <a:cs typeface="Calibri"/>
              </a:rPr>
              <a:t>: 1:1 training sessions so they know the features</a:t>
            </a:r>
          </a:p>
          <a:p>
            <a:pPr marL="228600" indent="-228600">
              <a:buAutoNum type="arabicParenR"/>
            </a:pPr>
            <a:r>
              <a:rPr lang="en-US" dirty="0" err="1">
                <a:ea typeface="Calibri"/>
                <a:cs typeface="Calibri"/>
              </a:rPr>
              <a:t>Eg</a:t>
            </a:r>
            <a:r>
              <a:rPr lang="en-US" dirty="0">
                <a:ea typeface="Calibri"/>
                <a:cs typeface="Calibri"/>
              </a:rPr>
              <a:t>: Each check-in could focus on something. 30 days -&gt; review payroll setup. 60 days -&gt; Introduce advance features 90 -&gt; Maximizing efficiency. Keep an eye on clients giving low ratings during feedback loops.</a:t>
            </a:r>
          </a:p>
          <a:p>
            <a:pPr marL="228600" indent="-228600">
              <a:buAutoNum type="arabicParenR"/>
            </a:pPr>
            <a:r>
              <a:rPr lang="en-US" dirty="0" err="1">
                <a:ea typeface="Calibri"/>
                <a:cs typeface="Calibri"/>
              </a:rPr>
              <a:t>Eg</a:t>
            </a:r>
            <a:r>
              <a:rPr lang="en-US" dirty="0">
                <a:ea typeface="Calibri"/>
                <a:cs typeface="Calibri"/>
              </a:rPr>
              <a:t>: Monthly check-in emails -&gt; highlighting features beneficial for less frequent clients (reminders for upcoming payroll dates)</a:t>
            </a:r>
          </a:p>
          <a:p>
            <a:pPr marL="228600" indent="-228600">
              <a:buAutoNum type="arabicParenR"/>
            </a:pPr>
            <a:r>
              <a:rPr lang="en-US" dirty="0" err="1">
                <a:ea typeface="Calibri"/>
                <a:cs typeface="Calibri"/>
              </a:rPr>
              <a:t>Eg</a:t>
            </a:r>
            <a:r>
              <a:rPr lang="en-US" dirty="0">
                <a:ea typeface="Calibri"/>
                <a:cs typeface="Calibri"/>
              </a:rPr>
              <a:t>: Pilot program for most vocal clients for voice agent, analyze the impact | Offer clients the option to do beta-testing of new UI </a:t>
            </a:r>
          </a:p>
        </p:txBody>
      </p:sp>
      <p:sp>
        <p:nvSpPr>
          <p:cNvPr id="4" name="Slide Number Placeholder 3"/>
          <p:cNvSpPr>
            <a:spLocks noGrp="1"/>
          </p:cNvSpPr>
          <p:nvPr>
            <p:ph type="sldNum" sz="quarter" idx="5"/>
          </p:nvPr>
        </p:nvSpPr>
        <p:spPr/>
        <p:txBody>
          <a:bodyPr/>
          <a:lstStyle/>
          <a:p>
            <a:fld id="{E6C844E8-61FA-4B8D-B431-57F2BFFB035E}" type="slidenum">
              <a:rPr lang="en-US"/>
              <a:t>5</a:t>
            </a:fld>
            <a:endParaRPr lang="en-US"/>
          </a:p>
        </p:txBody>
      </p:sp>
    </p:spTree>
    <p:extLst>
      <p:ext uri="{BB962C8B-B14F-4D97-AF65-F5344CB8AC3E}">
        <p14:creationId xmlns:p14="http://schemas.microsoft.com/office/powerpoint/2010/main" val="1786629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Low employee count – CSAT -&gt; </a:t>
            </a:r>
            <a:r>
              <a:rPr lang="en-US" b="1" dirty="0"/>
              <a:t>Relevance</a:t>
            </a:r>
            <a:r>
              <a:rPr lang="en-US" dirty="0"/>
              <a:t>: Measures the overall satisfaction of smaller companies, helping to assess if improvements in user experience are effective. -&gt; </a:t>
            </a:r>
            <a:r>
              <a:rPr lang="en-US" b="1" dirty="0"/>
              <a:t>Frequency</a:t>
            </a:r>
            <a:r>
              <a:rPr lang="en-US" dirty="0"/>
              <a:t>: Monthly.</a:t>
            </a:r>
          </a:p>
          <a:p>
            <a:r>
              <a:rPr lang="en-US" dirty="0"/>
              <a:t>NPS -&gt; </a:t>
            </a:r>
            <a:r>
              <a:rPr lang="en-US" b="1" dirty="0"/>
              <a:t>Relevance</a:t>
            </a:r>
            <a:r>
              <a:rPr lang="en-US" dirty="0"/>
              <a:t>: Gauges the likelihood of smaller companies recommending Wagepoint, indicating if enhancements have positively impacted their perception. -&gt; </a:t>
            </a:r>
            <a:r>
              <a:rPr lang="en-US" b="1" dirty="0"/>
              <a:t>Frequency</a:t>
            </a:r>
            <a:r>
              <a:rPr lang="en-US" dirty="0"/>
              <a:t>: Quarterly to capture trends in loyalty.</a:t>
            </a:r>
            <a:endParaRPr lang="en-US" dirty="0">
              <a:ea typeface="Calibri"/>
              <a:cs typeface="Calibri"/>
            </a:endParaRPr>
          </a:p>
          <a:p>
            <a:r>
              <a:rPr lang="en-US" dirty="0">
                <a:ea typeface="Calibri"/>
                <a:cs typeface="Calibri"/>
              </a:rPr>
              <a:t>For New Clients – CRR -&gt; </a:t>
            </a:r>
            <a:r>
              <a:rPr lang="en-US" b="1" dirty="0"/>
              <a:t>Relevance</a:t>
            </a:r>
            <a:r>
              <a:rPr lang="en-US" dirty="0"/>
              <a:t>: Tracks how well new clients are retained, measuring the success of onboarding and early engagement efforts. -&gt; </a:t>
            </a:r>
            <a:r>
              <a:rPr lang="en-US" b="1" dirty="0"/>
              <a:t>Frequency</a:t>
            </a:r>
            <a:r>
              <a:rPr lang="en-US" dirty="0"/>
              <a:t>: Monthly for quick troubleshooting.</a:t>
            </a:r>
            <a:endParaRPr lang="en-US" dirty="0">
              <a:ea typeface="Calibri"/>
              <a:cs typeface="Calibri"/>
            </a:endParaRPr>
          </a:p>
          <a:p>
            <a:r>
              <a:rPr lang="en-US" dirty="0">
                <a:ea typeface="Calibri"/>
                <a:cs typeface="Calibri"/>
              </a:rPr>
              <a:t>OSS -&gt; </a:t>
            </a:r>
            <a:r>
              <a:rPr lang="en-US" b="1" dirty="0"/>
              <a:t>Relevance</a:t>
            </a:r>
            <a:r>
              <a:rPr lang="en-US" dirty="0"/>
              <a:t>: Directly measures the satisfaction with the onboarding process, providing insights into areas for improvement. -&gt; </a:t>
            </a:r>
            <a:r>
              <a:rPr lang="en-US" b="1" dirty="0"/>
              <a:t>Frequency</a:t>
            </a:r>
            <a:r>
              <a:rPr lang="en-US" dirty="0"/>
              <a:t>: After each onboarding session to ensure immediate feedback.</a:t>
            </a:r>
            <a:endParaRPr lang="en-US" dirty="0">
              <a:ea typeface="Calibri"/>
              <a:cs typeface="Calibri"/>
            </a:endParaRPr>
          </a:p>
          <a:p>
            <a:r>
              <a:rPr lang="en-US" dirty="0">
                <a:ea typeface="Calibri"/>
                <a:cs typeface="Calibri"/>
              </a:rPr>
              <a:t>For Monthly Users – UER -&gt; </a:t>
            </a:r>
            <a:r>
              <a:rPr lang="en-US" b="1" dirty="0"/>
              <a:t>Relevance</a:t>
            </a:r>
            <a:r>
              <a:rPr lang="en-US" dirty="0"/>
              <a:t>: Measures how frequently monthly users interact with the platform, indicating the effectiveness of engagement strategies. -&gt; </a:t>
            </a:r>
            <a:r>
              <a:rPr lang="en-US" b="1" dirty="0"/>
              <a:t>Frequency:</a:t>
            </a:r>
            <a:r>
              <a:rPr lang="en-US" dirty="0"/>
              <a:t> Monthly to track engagement trends.</a:t>
            </a:r>
          </a:p>
          <a:p>
            <a:r>
              <a:rPr lang="en-US" dirty="0">
                <a:ea typeface="Calibri"/>
                <a:cs typeface="Calibri"/>
              </a:rPr>
              <a:t>CSAT -&gt; </a:t>
            </a:r>
            <a:r>
              <a:rPr lang="en-US" b="1" dirty="0"/>
              <a:t>Relevance</a:t>
            </a:r>
            <a:r>
              <a:rPr lang="en-US" dirty="0"/>
              <a:t>: Evaluates satisfaction levels specifically for monthly users, helping to gauge if engagement improvements are effective. -&gt; </a:t>
            </a:r>
            <a:r>
              <a:rPr lang="en-US" b="1" dirty="0"/>
              <a:t>Frequency</a:t>
            </a:r>
            <a:r>
              <a:rPr lang="en-US"/>
              <a:t>: Quarterly to capture changes in satisfaction over time.</a:t>
            </a:r>
          </a:p>
          <a:p>
            <a:r>
              <a:rPr lang="en-US" dirty="0">
                <a:ea typeface="Calibri"/>
                <a:cs typeface="Calibri"/>
              </a:rPr>
              <a:t>For Addressing Cons - </a:t>
            </a:r>
            <a:r>
              <a:rPr lang="en-US" dirty="0"/>
              <a:t>Customer Support Ticket Volume -&gt; </a:t>
            </a:r>
            <a:r>
              <a:rPr lang="en-US" b="1" dirty="0"/>
              <a:t>Relevance: </a:t>
            </a:r>
            <a:r>
              <a:rPr lang="en-US" dirty="0"/>
              <a:t>Tracks the volume of support tickets related to call agents, UI, and cost issues, helping to identify if improvements are reducing support-related problems. -&gt; </a:t>
            </a:r>
            <a:r>
              <a:rPr lang="en-US" b="1" dirty="0"/>
              <a:t>Frequency</a:t>
            </a:r>
            <a:r>
              <a:rPr lang="en-US" dirty="0"/>
              <a:t>: Monthly to monitor the impact of changes on support ticket volume.</a:t>
            </a:r>
            <a:endParaRPr lang="en-US" dirty="0">
              <a:ea typeface="Calibri"/>
              <a:cs typeface="Calibri"/>
            </a:endParaRPr>
          </a:p>
          <a:p>
            <a:r>
              <a:rPr lang="en-US" dirty="0">
                <a:ea typeface="Calibri"/>
                <a:cs typeface="Calibri"/>
              </a:rPr>
              <a:t>UI Satisfaction Score -&gt; </a:t>
            </a:r>
            <a:r>
              <a:rPr lang="en-US" b="1" dirty="0"/>
              <a:t>Relevance</a:t>
            </a:r>
            <a:r>
              <a:rPr lang="en-US" dirty="0"/>
              <a:t>: Measures user satisfaction with UI updates, assessing if changes to the UI are effectively addressing user concerns. -&gt; </a:t>
            </a:r>
            <a:r>
              <a:rPr lang="en-US" b="1" dirty="0"/>
              <a:t>Frequency</a:t>
            </a:r>
            <a:r>
              <a:rPr lang="en-US" dirty="0"/>
              <a:t>: Post-UI updates to capture immediate feedback on improvements.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E6C844E8-61FA-4B8D-B431-57F2BFFB035E}" type="slidenum">
              <a:rPr lang="en-US"/>
              <a:t>6</a:t>
            </a:fld>
            <a:endParaRPr lang="en-US"/>
          </a:p>
        </p:txBody>
      </p:sp>
    </p:spTree>
    <p:extLst>
      <p:ext uri="{BB962C8B-B14F-4D97-AF65-F5344CB8AC3E}">
        <p14:creationId xmlns:p14="http://schemas.microsoft.com/office/powerpoint/2010/main" val="2562402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5A069CB8-F204-4D06-B913-C5A26A89888A}" type="datetimeFigureOut">
              <a:rPr lang="en-US" dirty="0"/>
              <a:t>9/17/2024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7502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30BB376-B19C-488D-ABEB-03C7E6E9E3E0}" type="datetimeFigureOut">
              <a:rPr lang="en-US" dirty="0"/>
              <a:t>9/17/2024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dirty="0"/>
          </a:p>
        </p:txBody>
      </p:sp>
    </p:spTree>
    <p:extLst>
      <p:ext uri="{BB962C8B-B14F-4D97-AF65-F5344CB8AC3E}">
        <p14:creationId xmlns:p14="http://schemas.microsoft.com/office/powerpoint/2010/main" val="1618181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9/17/2024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6497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D9E2A62-1983-43A1-A163-D8AA46534C80}" type="datetimeFigureOut">
              <a:rPr lang="en-US" dirty="0"/>
              <a:t>9/17/2024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87979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dirty="0"/>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98F3E3B-34E3-4345-B2A1-994B83598A9C}" type="datetimeFigureOut">
              <a:rPr lang="en-US" dirty="0"/>
              <a:t>9/17/2024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024942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FD816C96-82A1-4D77-8ADA-627AC6FE3D65}" type="datetimeFigureOut">
              <a:rPr lang="en-US" dirty="0"/>
              <a:t>9/17/2024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5894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9/17/2024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463672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9/17/2024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4096917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dirty="0"/>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9/17/2024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043965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0B6E300-0A13-4A81-945A-7333C271A069}" type="datetimeFigureOut">
              <a:rPr lang="en-US" dirty="0"/>
              <a:t>9/17/2024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097610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4671962-1EA4-46E7-BCB0-F36CE46D1A59}" type="datetimeFigureOut">
              <a:rPr lang="en-US" dirty="0"/>
              <a:t>9/17/2024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810544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9/17/2024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8426606"/>
      </p:ext>
    </p:extLst>
  </p:cSld>
  <p:clrMap bg1="lt1" tx1="dk1" bg2="lt2" tx2="dk2" accent1="accent1" accent2="accent2" accent3="accent3" accent4="accent4" accent5="accent5" accent6="accent6" hlink="hlink" folHlink="folHlink"/>
  <p:sldLayoutIdLst>
    <p:sldLayoutId id="2147484284" r:id="rId1"/>
    <p:sldLayoutId id="2147484285" r:id="rId2"/>
    <p:sldLayoutId id="2147484286" r:id="rId3"/>
    <p:sldLayoutId id="2147484287" r:id="rId4"/>
    <p:sldLayoutId id="2147484288" r:id="rId5"/>
    <p:sldLayoutId id="2147484289" r:id="rId6"/>
    <p:sldLayoutId id="2147484290" r:id="rId7"/>
    <p:sldLayoutId id="2147484291" r:id="rId8"/>
    <p:sldLayoutId id="2147484292" r:id="rId9"/>
    <p:sldLayoutId id="2147484293" r:id="rId10"/>
    <p:sldLayoutId id="2147484294"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975219DE-C821-412B-BF34-1F970885C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883DAC5-877A-4069-84E0-F651E2679A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754787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16835"/>
            <a:ext cx="5977937" cy="1666501"/>
          </a:xfrm>
        </p:spPr>
        <p:txBody>
          <a:bodyPr>
            <a:normAutofit/>
          </a:bodyPr>
          <a:lstStyle/>
          <a:p>
            <a:r>
              <a:rPr lang="en-US" sz="4000" dirty="0">
                <a:solidFill>
                  <a:srgbClr val="FFFFFF"/>
                </a:solidFill>
                <a:latin typeface="Arial"/>
                <a:cs typeface="Arial"/>
              </a:rPr>
              <a:t>Customer Retention Strategy for Wagepoint</a:t>
            </a:r>
          </a:p>
        </p:txBody>
      </p:sp>
      <p:sp>
        <p:nvSpPr>
          <p:cNvPr id="3" name="Subtitle 2"/>
          <p:cNvSpPr>
            <a:spLocks noGrp="1"/>
          </p:cNvSpPr>
          <p:nvPr>
            <p:ph idx="1"/>
          </p:nvPr>
        </p:nvSpPr>
        <p:spPr>
          <a:xfrm>
            <a:off x="1097279" y="2210734"/>
            <a:ext cx="6453548" cy="3678237"/>
          </a:xfrm>
        </p:spPr>
        <p:txBody>
          <a:bodyPr vert="horz" lIns="91440" tIns="45720" rIns="91440" bIns="45720" rtlCol="0" anchor="t">
            <a:normAutofit/>
          </a:bodyPr>
          <a:lstStyle/>
          <a:p>
            <a:pPr marL="0" indent="0">
              <a:buNone/>
            </a:pPr>
            <a:r>
              <a:rPr lang="en-US" dirty="0">
                <a:solidFill>
                  <a:srgbClr val="FFFFFF"/>
                </a:solidFill>
                <a:latin typeface="Arial"/>
                <a:ea typeface="+mj-lt"/>
                <a:cs typeface="+mj-lt"/>
              </a:rPr>
              <a:t>Reducing Churn and Enhancing Customer Satisfaction</a:t>
            </a:r>
            <a:endParaRPr lang="en-US" dirty="0">
              <a:solidFill>
                <a:srgbClr val="FFFFFF"/>
              </a:solidFill>
              <a:latin typeface="Arial"/>
              <a:ea typeface="Calibri Light" panose="020F0302020204030204"/>
              <a:cs typeface="Calibri Light" panose="020F0302020204030204"/>
            </a:endParaRPr>
          </a:p>
          <a:p>
            <a:pPr>
              <a:spcBef>
                <a:spcPts val="0"/>
              </a:spcBef>
              <a:spcAft>
                <a:spcPts val="0"/>
              </a:spcAft>
            </a:pPr>
            <a:endParaRPr lang="en-US" sz="1800">
              <a:solidFill>
                <a:srgbClr val="FFFFFF"/>
              </a:solidFill>
              <a:latin typeface="Arial"/>
              <a:ea typeface="Calibri Light" panose="020F0302020204030204"/>
              <a:cs typeface="Arial"/>
            </a:endParaRPr>
          </a:p>
          <a:p>
            <a:pPr>
              <a:spcBef>
                <a:spcPts val="0"/>
              </a:spcBef>
              <a:spcAft>
                <a:spcPts val="0"/>
              </a:spcAft>
            </a:pPr>
            <a:endParaRPr lang="en-US" sz="1800">
              <a:solidFill>
                <a:srgbClr val="FFFFFF"/>
              </a:solidFill>
              <a:latin typeface="Arial"/>
              <a:ea typeface="Calibri Light" panose="020F0302020204030204"/>
              <a:cs typeface="Arial"/>
            </a:endParaRPr>
          </a:p>
          <a:p>
            <a:pPr>
              <a:spcBef>
                <a:spcPts val="0"/>
              </a:spcBef>
              <a:spcAft>
                <a:spcPts val="0"/>
              </a:spcAft>
            </a:pPr>
            <a:endParaRPr lang="en-US" sz="1800">
              <a:solidFill>
                <a:srgbClr val="FFFFFF"/>
              </a:solidFill>
              <a:latin typeface="Arial"/>
              <a:ea typeface="Calibri Light" panose="020F0302020204030204"/>
              <a:cs typeface="Arial"/>
            </a:endParaRPr>
          </a:p>
          <a:p>
            <a:pPr>
              <a:spcBef>
                <a:spcPts val="0"/>
              </a:spcBef>
              <a:spcAft>
                <a:spcPts val="0"/>
              </a:spcAft>
            </a:pPr>
            <a:endParaRPr lang="en-US" sz="1800">
              <a:solidFill>
                <a:srgbClr val="FFFFFF"/>
              </a:solidFill>
              <a:latin typeface="Arial"/>
              <a:ea typeface="Calibri Light" panose="020F0302020204030204"/>
              <a:cs typeface="Arial"/>
            </a:endParaRPr>
          </a:p>
          <a:p>
            <a:pPr marL="285750" indent="-285750">
              <a:buFont typeface="Arial"/>
              <a:buChar char="•"/>
            </a:pPr>
            <a:endParaRPr lang="en-US" sz="1800">
              <a:solidFill>
                <a:srgbClr val="FFFFFF"/>
              </a:solidFill>
              <a:latin typeface="Arial"/>
              <a:ea typeface="Calibri" panose="020F0502020204030204"/>
              <a:cs typeface="Calibri" panose="020F0502020204030204"/>
            </a:endParaRPr>
          </a:p>
          <a:p>
            <a:endParaRPr lang="en-US" sz="1800">
              <a:solidFill>
                <a:srgbClr val="FFFFFF"/>
              </a:solidFill>
              <a:latin typeface="Arial"/>
              <a:ea typeface="Calibri Light" panose="020F0302020204030204"/>
              <a:cs typeface="Calibri Light" panose="020F0302020204030204"/>
            </a:endParaRPr>
          </a:p>
        </p:txBody>
      </p:sp>
      <p:sp>
        <p:nvSpPr>
          <p:cNvPr id="33" name="Rectangle 32">
            <a:extLst>
              <a:ext uri="{FF2B5EF4-FFF2-40B4-BE49-F238E27FC236}">
                <a16:creationId xmlns:a16="http://schemas.microsoft.com/office/drawing/2014/main" id="{10A9524C-9867-46B4-ABAF-CB92D6611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789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Picture 5" descr="A logo of a robot&#10;&#10;Description automatically generated">
            <a:extLst>
              <a:ext uri="{FF2B5EF4-FFF2-40B4-BE49-F238E27FC236}">
                <a16:creationId xmlns:a16="http://schemas.microsoft.com/office/drawing/2014/main" id="{ECB131CB-9E0B-9B4E-03FB-683C744BDA2C}"/>
              </a:ext>
            </a:extLst>
          </p:cNvPr>
          <p:cNvPicPr>
            <a:picLocks noChangeAspect="1"/>
          </p:cNvPicPr>
          <p:nvPr/>
        </p:nvPicPr>
        <p:blipFill>
          <a:blip r:embed="rId2"/>
          <a:stretch>
            <a:fillRect/>
          </a:stretch>
        </p:blipFill>
        <p:spPr>
          <a:xfrm>
            <a:off x="8251982" y="1770977"/>
            <a:ext cx="3294253" cy="3294253"/>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 name="Rectangle 132">
            <a:extLst>
              <a:ext uri="{FF2B5EF4-FFF2-40B4-BE49-F238E27FC236}">
                <a16:creationId xmlns:a16="http://schemas.microsoft.com/office/drawing/2014/main" id="{F53311A5-99DE-4393-9A6A-668B1A50F6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4" name="Rectangle 133">
            <a:extLst>
              <a:ext uri="{FF2B5EF4-FFF2-40B4-BE49-F238E27FC236}">
                <a16:creationId xmlns:a16="http://schemas.microsoft.com/office/drawing/2014/main" id="{A4927983-BFBD-4CAA-A34E-2D3486ACF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4193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5" name="Straight Connector 134">
            <a:extLst>
              <a:ext uri="{FF2B5EF4-FFF2-40B4-BE49-F238E27FC236}">
                <a16:creationId xmlns:a16="http://schemas.microsoft.com/office/drawing/2014/main" id="{B40DF401-E6F0-4EFD-8C5C-6847352084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36" name="Rectangle 135">
            <a:extLst>
              <a:ext uri="{FF2B5EF4-FFF2-40B4-BE49-F238E27FC236}">
                <a16:creationId xmlns:a16="http://schemas.microsoft.com/office/drawing/2014/main" id="{9F5E263C-FB7E-4A3E-AD04-5140CD3D1D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9E65ED8C-90F7-4EB0-ACCB-64AEF411E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D9F962-661B-FBAB-5C54-F89D8678CD15}"/>
              </a:ext>
            </a:extLst>
          </p:cNvPr>
          <p:cNvSpPr>
            <a:spLocks noGrp="1"/>
          </p:cNvSpPr>
          <p:nvPr>
            <p:ph type="title" idx="4294967295"/>
          </p:nvPr>
        </p:nvSpPr>
        <p:spPr>
          <a:xfrm>
            <a:off x="492370" y="516835"/>
            <a:ext cx="3084844" cy="5772840"/>
          </a:xfrm>
        </p:spPr>
        <p:txBody>
          <a:bodyPr vert="horz" lIns="91440" tIns="45720" rIns="91440" bIns="45720" rtlCol="0" anchor="ctr">
            <a:normAutofit/>
          </a:bodyPr>
          <a:lstStyle/>
          <a:p>
            <a:r>
              <a:rPr lang="en-US" sz="3600" dirty="0">
                <a:solidFill>
                  <a:srgbClr val="FFFFFF"/>
                </a:solidFill>
                <a:latin typeface="Arial"/>
                <a:cs typeface="Arial"/>
              </a:rPr>
              <a:t>Problem Overview</a:t>
            </a:r>
          </a:p>
        </p:txBody>
      </p:sp>
      <p:sp>
        <p:nvSpPr>
          <p:cNvPr id="138" name="Rectangle 137">
            <a:extLst>
              <a:ext uri="{FF2B5EF4-FFF2-40B4-BE49-F238E27FC236}">
                <a16:creationId xmlns:a16="http://schemas.microsoft.com/office/drawing/2014/main" id="{6604E3BF-88F7-4D19-BEC9-8486966EA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96" name="TextBox 69">
            <a:extLst>
              <a:ext uri="{FF2B5EF4-FFF2-40B4-BE49-F238E27FC236}">
                <a16:creationId xmlns:a16="http://schemas.microsoft.com/office/drawing/2014/main" id="{FAF0EE70-13EF-557A-AA95-97D0C7921991}"/>
              </a:ext>
            </a:extLst>
          </p:cNvPr>
          <p:cNvGraphicFramePr/>
          <p:nvPr>
            <p:extLst>
              <p:ext uri="{D42A27DB-BD31-4B8C-83A1-F6EECF244321}">
                <p14:modId xmlns:p14="http://schemas.microsoft.com/office/powerpoint/2010/main" val="11172008"/>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89556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 name="Rectangle 90">
            <a:extLst>
              <a:ext uri="{FF2B5EF4-FFF2-40B4-BE49-F238E27FC236}">
                <a16:creationId xmlns:a16="http://schemas.microsoft.com/office/drawing/2014/main" id="{F53311A5-99DE-4393-9A6A-668B1A50F6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3" name="Rectangle 92">
            <a:extLst>
              <a:ext uri="{FF2B5EF4-FFF2-40B4-BE49-F238E27FC236}">
                <a16:creationId xmlns:a16="http://schemas.microsoft.com/office/drawing/2014/main" id="{A4927983-BFBD-4CAA-A34E-2D3486ACF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4193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95" name="Straight Connector 94">
            <a:extLst>
              <a:ext uri="{FF2B5EF4-FFF2-40B4-BE49-F238E27FC236}">
                <a16:creationId xmlns:a16="http://schemas.microsoft.com/office/drawing/2014/main" id="{B40DF401-E6F0-4EFD-8C5C-6847352084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8D9F962-661B-FBAB-5C54-F89D8678CD15}"/>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en-US" sz="3600" dirty="0">
                <a:latin typeface="Arial"/>
                <a:cs typeface="Arial"/>
              </a:rPr>
              <a:t>Customer Data Overview</a:t>
            </a:r>
          </a:p>
        </p:txBody>
      </p:sp>
      <p:graphicFrame>
        <p:nvGraphicFramePr>
          <p:cNvPr id="86" name="Content Placeholder 3">
            <a:extLst>
              <a:ext uri="{FF2B5EF4-FFF2-40B4-BE49-F238E27FC236}">
                <a16:creationId xmlns:a16="http://schemas.microsoft.com/office/drawing/2014/main" id="{27307A3A-6678-1E88-5FED-7F83A8DEC029}"/>
              </a:ext>
            </a:extLst>
          </p:cNvPr>
          <p:cNvGraphicFramePr>
            <a:graphicFrameLocks noGrp="1"/>
          </p:cNvGraphicFramePr>
          <p:nvPr>
            <p:ph sz="half" idx="1"/>
            <p:extLst>
              <p:ext uri="{D42A27DB-BD31-4B8C-83A1-F6EECF244321}">
                <p14:modId xmlns:p14="http://schemas.microsoft.com/office/powerpoint/2010/main" val="2780251514"/>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2968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 name="Rectangle 367">
            <a:extLst>
              <a:ext uri="{FF2B5EF4-FFF2-40B4-BE49-F238E27FC236}">
                <a16:creationId xmlns:a16="http://schemas.microsoft.com/office/drawing/2014/main" id="{F53311A5-99DE-4393-9A6A-668B1A50F6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69" name="Rectangle 368">
            <a:extLst>
              <a:ext uri="{FF2B5EF4-FFF2-40B4-BE49-F238E27FC236}">
                <a16:creationId xmlns:a16="http://schemas.microsoft.com/office/drawing/2014/main" id="{A4927983-BFBD-4CAA-A34E-2D3486ACF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4193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70" name="Straight Connector 369">
            <a:extLst>
              <a:ext uri="{FF2B5EF4-FFF2-40B4-BE49-F238E27FC236}">
                <a16:creationId xmlns:a16="http://schemas.microsoft.com/office/drawing/2014/main" id="{B40DF401-E6F0-4EFD-8C5C-6847352084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8D9F962-661B-FBAB-5C54-F89D8678CD15}"/>
              </a:ext>
            </a:extLst>
          </p:cNvPr>
          <p:cNvSpPr>
            <a:spLocks noGrp="1"/>
          </p:cNvSpPr>
          <p:nvPr>
            <p:ph type="title" idx="4294967295"/>
          </p:nvPr>
        </p:nvSpPr>
        <p:spPr>
          <a:xfrm>
            <a:off x="1097280" y="286603"/>
            <a:ext cx="10058400" cy="1450757"/>
          </a:xfrm>
        </p:spPr>
        <p:txBody>
          <a:bodyPr vert="horz" lIns="91440" tIns="45720" rIns="91440" bIns="45720" rtlCol="0" anchor="b">
            <a:normAutofit/>
          </a:bodyPr>
          <a:lstStyle/>
          <a:p>
            <a:r>
              <a:rPr lang="en-US" sz="3600" dirty="0">
                <a:latin typeface="Arial"/>
                <a:cs typeface="Arial"/>
              </a:rPr>
              <a:t>Key Insights</a:t>
            </a:r>
          </a:p>
        </p:txBody>
      </p:sp>
      <p:graphicFrame>
        <p:nvGraphicFramePr>
          <p:cNvPr id="339" name="Diagram 338">
            <a:extLst>
              <a:ext uri="{FF2B5EF4-FFF2-40B4-BE49-F238E27FC236}">
                <a16:creationId xmlns:a16="http://schemas.microsoft.com/office/drawing/2014/main" id="{EF6C0492-84AE-5884-5CEC-8B853B94577E}"/>
              </a:ext>
            </a:extLst>
          </p:cNvPr>
          <p:cNvGraphicFramePr/>
          <p:nvPr>
            <p:extLst>
              <p:ext uri="{D42A27DB-BD31-4B8C-83A1-F6EECF244321}">
                <p14:modId xmlns:p14="http://schemas.microsoft.com/office/powerpoint/2010/main" val="379144537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52295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9F962-661B-FBAB-5C54-F89D8678CD15}"/>
              </a:ext>
            </a:extLst>
          </p:cNvPr>
          <p:cNvSpPr>
            <a:spLocks noGrp="1"/>
          </p:cNvSpPr>
          <p:nvPr>
            <p:ph type="title"/>
          </p:nvPr>
        </p:nvSpPr>
        <p:spPr>
          <a:xfrm>
            <a:off x="1097280" y="286603"/>
            <a:ext cx="10058400" cy="1450757"/>
          </a:xfrm>
        </p:spPr>
        <p:txBody>
          <a:bodyPr>
            <a:normAutofit/>
          </a:bodyPr>
          <a:lstStyle/>
          <a:p>
            <a:r>
              <a:rPr lang="en-US" sz="3600" dirty="0">
                <a:latin typeface="Arial"/>
                <a:ea typeface="Calibri Light"/>
                <a:cs typeface="Calibri Light"/>
              </a:rPr>
              <a:t>Retention Strategies</a:t>
            </a:r>
            <a:endParaRPr lang="en-US" sz="3600">
              <a:latin typeface="Arial"/>
              <a:cs typeface="Arial"/>
            </a:endParaRPr>
          </a:p>
        </p:txBody>
      </p:sp>
      <p:graphicFrame>
        <p:nvGraphicFramePr>
          <p:cNvPr id="14" name="Content Placeholder 2">
            <a:extLst>
              <a:ext uri="{FF2B5EF4-FFF2-40B4-BE49-F238E27FC236}">
                <a16:creationId xmlns:a16="http://schemas.microsoft.com/office/drawing/2014/main" id="{BD7E1E9C-302A-C678-2B47-C66CCAFDBDA2}"/>
              </a:ext>
            </a:extLst>
          </p:cNvPr>
          <p:cNvGraphicFramePr>
            <a:graphicFrameLocks noGrp="1"/>
          </p:cNvGraphicFramePr>
          <p:nvPr>
            <p:ph idx="1"/>
            <p:extLst>
              <p:ext uri="{D42A27DB-BD31-4B8C-83A1-F6EECF244321}">
                <p14:modId xmlns:p14="http://schemas.microsoft.com/office/powerpoint/2010/main" val="542605689"/>
              </p:ext>
            </p:extLst>
          </p:nvPr>
        </p:nvGraphicFramePr>
        <p:xfrm>
          <a:off x="1096963" y="1878062"/>
          <a:ext cx="10187794" cy="42749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65661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9F962-661B-FBAB-5C54-F89D8678CD15}"/>
              </a:ext>
            </a:extLst>
          </p:cNvPr>
          <p:cNvSpPr>
            <a:spLocks noGrp="1"/>
          </p:cNvSpPr>
          <p:nvPr>
            <p:ph type="title"/>
          </p:nvPr>
        </p:nvSpPr>
        <p:spPr>
          <a:xfrm>
            <a:off x="1097280" y="286603"/>
            <a:ext cx="10058400" cy="1450757"/>
          </a:xfrm>
        </p:spPr>
        <p:txBody>
          <a:bodyPr>
            <a:normAutofit/>
          </a:bodyPr>
          <a:lstStyle/>
          <a:p>
            <a:r>
              <a:rPr lang="en-US" sz="3600" dirty="0">
                <a:solidFill>
                  <a:schemeClr val="tx1"/>
                </a:solidFill>
                <a:latin typeface="Arial"/>
                <a:ea typeface="Calibri Light"/>
                <a:cs typeface="Calibri Light"/>
              </a:rPr>
              <a:t>KPIs to Track</a:t>
            </a:r>
            <a:endParaRPr lang="en-US" sz="3600" dirty="0">
              <a:solidFill>
                <a:schemeClr val="tx1"/>
              </a:solidFill>
              <a:latin typeface="Arial"/>
              <a:cs typeface="Arial"/>
            </a:endParaRPr>
          </a:p>
        </p:txBody>
      </p:sp>
      <p:graphicFrame>
        <p:nvGraphicFramePr>
          <p:cNvPr id="30" name="Content Placeholder 2">
            <a:extLst>
              <a:ext uri="{FF2B5EF4-FFF2-40B4-BE49-F238E27FC236}">
                <a16:creationId xmlns:a16="http://schemas.microsoft.com/office/drawing/2014/main" id="{1512B4FE-5D4C-BC42-73BE-BB0F377EE099}"/>
              </a:ext>
            </a:extLst>
          </p:cNvPr>
          <p:cNvGraphicFramePr>
            <a:graphicFrameLocks noGrp="1"/>
          </p:cNvGraphicFramePr>
          <p:nvPr>
            <p:ph idx="1"/>
            <p:extLst>
              <p:ext uri="{D42A27DB-BD31-4B8C-83A1-F6EECF244321}">
                <p14:modId xmlns:p14="http://schemas.microsoft.com/office/powerpoint/2010/main" val="849634522"/>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643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9F962-661B-FBAB-5C54-F89D8678CD15}"/>
              </a:ext>
            </a:extLst>
          </p:cNvPr>
          <p:cNvSpPr>
            <a:spLocks noGrp="1"/>
          </p:cNvSpPr>
          <p:nvPr>
            <p:ph type="title"/>
          </p:nvPr>
        </p:nvSpPr>
        <p:spPr/>
        <p:txBody>
          <a:bodyPr>
            <a:normAutofit/>
          </a:bodyPr>
          <a:lstStyle/>
          <a:p>
            <a:r>
              <a:rPr lang="en-US" sz="3600" dirty="0">
                <a:latin typeface="Arial"/>
                <a:ea typeface="Calibri Light"/>
                <a:cs typeface="Calibri Light"/>
              </a:rPr>
              <a:t>Success Metrics</a:t>
            </a:r>
            <a:endParaRPr lang="en-US" sz="3600">
              <a:latin typeface="Arial"/>
              <a:cs typeface="Arial"/>
            </a:endParaRPr>
          </a:p>
        </p:txBody>
      </p:sp>
      <p:graphicFrame>
        <p:nvGraphicFramePr>
          <p:cNvPr id="12" name="Content Placeholder 2">
            <a:extLst>
              <a:ext uri="{FF2B5EF4-FFF2-40B4-BE49-F238E27FC236}">
                <a16:creationId xmlns:a16="http://schemas.microsoft.com/office/drawing/2014/main" id="{6F74A455-5E92-0B8D-C0AB-7794ADDBBDA6}"/>
              </a:ext>
            </a:extLst>
          </p:cNvPr>
          <p:cNvGraphicFramePr/>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045311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5</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Retrospect</vt:lpstr>
      <vt:lpstr>Customer Retention Strategy for Wagepoint</vt:lpstr>
      <vt:lpstr>Problem Overview</vt:lpstr>
      <vt:lpstr>Customer Data Overview</vt:lpstr>
      <vt:lpstr>Key Insights</vt:lpstr>
      <vt:lpstr>Retention Strategies</vt:lpstr>
      <vt:lpstr>KPIs to Track</vt:lpstr>
      <vt:lpstr>Success Metrics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868</cp:revision>
  <dcterms:created xsi:type="dcterms:W3CDTF">2024-09-12T19:48:25Z</dcterms:created>
  <dcterms:modified xsi:type="dcterms:W3CDTF">2024-09-18T01:29:30Z</dcterms:modified>
</cp:coreProperties>
</file>